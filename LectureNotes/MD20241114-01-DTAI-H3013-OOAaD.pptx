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308" r:id="rId3"/>
    <p:sldId id="309" r:id="rId4"/>
    <p:sldId id="257" r:id="rId5"/>
    <p:sldId id="264" r:id="rId6"/>
    <p:sldId id="265" r:id="rId7"/>
    <p:sldId id="266" r:id="rId8"/>
    <p:sldId id="267" r:id="rId9"/>
    <p:sldId id="268" r:id="rId10"/>
    <p:sldId id="269" r:id="rId11"/>
    <p:sldId id="270" r:id="rId12"/>
    <p:sldId id="271" r:id="rId13"/>
    <p:sldId id="272" r:id="rId14"/>
    <p:sldId id="274" r:id="rId15"/>
    <p:sldId id="275" r:id="rId16"/>
    <p:sldId id="276" r:id="rId17"/>
    <p:sldId id="277" r:id="rId18"/>
    <p:sldId id="306" r:id="rId19"/>
    <p:sldId id="279" r:id="rId20"/>
    <p:sldId id="278" r:id="rId21"/>
    <p:sldId id="280" r:id="rId22"/>
    <p:sldId id="281" r:id="rId23"/>
    <p:sldId id="307" r:id="rId24"/>
    <p:sldId id="282" r:id="rId25"/>
    <p:sldId id="283" r:id="rId26"/>
    <p:sldId id="284" r:id="rId27"/>
    <p:sldId id="286" r:id="rId28"/>
    <p:sldId id="285" r:id="rId29"/>
    <p:sldId id="287" r:id="rId30"/>
    <p:sldId id="288" r:id="rId31"/>
    <p:sldId id="289" r:id="rId32"/>
    <p:sldId id="290" r:id="rId33"/>
    <p:sldId id="291" r:id="rId34"/>
    <p:sldId id="292" r:id="rId35"/>
    <p:sldId id="293" r:id="rId36"/>
    <p:sldId id="294" r:id="rId37"/>
    <p:sldId id="295" r:id="rId38"/>
    <p:sldId id="297" r:id="rId39"/>
    <p:sldId id="298" r:id="rId40"/>
    <p:sldId id="299" r:id="rId41"/>
    <p:sldId id="300" r:id="rId42"/>
    <p:sldId id="301" r:id="rId43"/>
    <p:sldId id="302" r:id="rId44"/>
    <p:sldId id="303" r:id="rId45"/>
    <p:sldId id="259" r:id="rId46"/>
    <p:sldId id="258" r:id="rId47"/>
    <p:sldId id="261" r:id="rId48"/>
    <p:sldId id="260" r:id="rId49"/>
    <p:sldId id="262" r:id="rId50"/>
    <p:sldId id="263" r:id="rId51"/>
    <p:sldId id="273" r:id="rId52"/>
    <p:sldId id="304" r:id="rId53"/>
    <p:sldId id="30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B28A30-6252-8E4E-8B2D-F02158F6A80B}" v="815" dt="2025-11-19T09:25:10.1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99"/>
    <p:restoredTop sz="86371"/>
  </p:normalViewPr>
  <p:slideViewPr>
    <p:cSldViewPr snapToGrid="0">
      <p:cViewPr varScale="1">
        <p:scale>
          <a:sx n="169" d="100"/>
          <a:sy n="169" d="100"/>
        </p:scale>
        <p:origin x="232" y="7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Deegan" userId="d7c3c430-de81-4a20-a0bb-12f4a93d7093" providerId="ADAL" clId="{1A31998D-3684-51E8-B313-04AA492EE7E5}"/>
    <pc:docChg chg="custSel addSld modSld">
      <pc:chgData name="Mark Deegan" userId="d7c3c430-de81-4a20-a0bb-12f4a93d7093" providerId="ADAL" clId="{1A31998D-3684-51E8-B313-04AA492EE7E5}" dt="2025-11-19T09:25:10.136" v="1485" actId="14100"/>
      <pc:docMkLst>
        <pc:docMk/>
      </pc:docMkLst>
      <pc:sldChg chg="modSp">
        <pc:chgData name="Mark Deegan" userId="d7c3c430-de81-4a20-a0bb-12f4a93d7093" providerId="ADAL" clId="{1A31998D-3684-51E8-B313-04AA492EE7E5}" dt="2025-11-19T09:18:54.581" v="851" actId="20577"/>
        <pc:sldMkLst>
          <pc:docMk/>
          <pc:sldMk cId="602231198" sldId="256"/>
        </pc:sldMkLst>
        <pc:spChg chg="mod">
          <ac:chgData name="Mark Deegan" userId="d7c3c430-de81-4a20-a0bb-12f4a93d7093" providerId="ADAL" clId="{1A31998D-3684-51E8-B313-04AA492EE7E5}" dt="2025-11-19T08:21:56.247" v="831" actId="20577"/>
          <ac:spMkLst>
            <pc:docMk/>
            <pc:sldMk cId="602231198" sldId="256"/>
            <ac:spMk id="2" creationId="{9C79F188-308B-CE5D-318F-395EE8FD2B07}"/>
          </ac:spMkLst>
        </pc:spChg>
        <pc:spChg chg="mod">
          <ac:chgData name="Mark Deegan" userId="d7c3c430-de81-4a20-a0bb-12f4a93d7093" providerId="ADAL" clId="{1A31998D-3684-51E8-B313-04AA492EE7E5}" dt="2025-11-19T09:18:54.581" v="851" actId="20577"/>
          <ac:spMkLst>
            <pc:docMk/>
            <pc:sldMk cId="602231198" sldId="256"/>
            <ac:spMk id="3" creationId="{84455B34-2F0C-72A8-48BC-4545E55148C2}"/>
          </ac:spMkLst>
        </pc:spChg>
      </pc:sldChg>
      <pc:sldChg chg="modSp">
        <pc:chgData name="Mark Deegan" userId="d7c3c430-de81-4a20-a0bb-12f4a93d7093" providerId="ADAL" clId="{1A31998D-3684-51E8-B313-04AA492EE7E5}" dt="2025-11-19T09:07:19.525" v="850" actId="20577"/>
        <pc:sldMkLst>
          <pc:docMk/>
          <pc:sldMk cId="1828346462" sldId="257"/>
        </pc:sldMkLst>
        <pc:spChg chg="mod">
          <ac:chgData name="Mark Deegan" userId="d7c3c430-de81-4a20-a0bb-12f4a93d7093" providerId="ADAL" clId="{1A31998D-3684-51E8-B313-04AA492EE7E5}" dt="2025-11-19T09:07:19.525" v="850" actId="20577"/>
          <ac:spMkLst>
            <pc:docMk/>
            <pc:sldMk cId="1828346462" sldId="257"/>
            <ac:spMk id="6" creationId="{E6179220-E003-0D5D-1547-F0AB4AEF1CCB}"/>
          </ac:spMkLst>
        </pc:spChg>
      </pc:sldChg>
      <pc:sldChg chg="modSp">
        <pc:chgData name="Mark Deegan" userId="d7c3c430-de81-4a20-a0bb-12f4a93d7093" providerId="ADAL" clId="{1A31998D-3684-51E8-B313-04AA492EE7E5}" dt="2025-11-19T08:19:05.730" v="736" actId="5793"/>
        <pc:sldMkLst>
          <pc:docMk/>
          <pc:sldMk cId="2419741564" sldId="278"/>
        </pc:sldMkLst>
        <pc:spChg chg="mod">
          <ac:chgData name="Mark Deegan" userId="d7c3c430-de81-4a20-a0bb-12f4a93d7093" providerId="ADAL" clId="{1A31998D-3684-51E8-B313-04AA492EE7E5}" dt="2025-11-19T08:19:05.730" v="736" actId="5793"/>
          <ac:spMkLst>
            <pc:docMk/>
            <pc:sldMk cId="2419741564" sldId="278"/>
            <ac:spMk id="2" creationId="{72669C0D-B06F-3270-F13B-0FE33EA8BC29}"/>
          </ac:spMkLst>
        </pc:spChg>
      </pc:sldChg>
      <pc:sldChg chg="modSp">
        <pc:chgData name="Mark Deegan" userId="d7c3c430-de81-4a20-a0bb-12f4a93d7093" providerId="ADAL" clId="{1A31998D-3684-51E8-B313-04AA492EE7E5}" dt="2025-11-19T08:19:04.260" v="732" actId="5793"/>
        <pc:sldMkLst>
          <pc:docMk/>
          <pc:sldMk cId="3159222515" sldId="280"/>
        </pc:sldMkLst>
        <pc:spChg chg="mod">
          <ac:chgData name="Mark Deegan" userId="d7c3c430-de81-4a20-a0bb-12f4a93d7093" providerId="ADAL" clId="{1A31998D-3684-51E8-B313-04AA492EE7E5}" dt="2025-11-19T08:19:04.260" v="732" actId="5793"/>
          <ac:spMkLst>
            <pc:docMk/>
            <pc:sldMk cId="3159222515" sldId="280"/>
            <ac:spMk id="2" creationId="{CE87170C-C940-0045-2714-A2D5142F9F34}"/>
          </ac:spMkLst>
        </pc:spChg>
      </pc:sldChg>
      <pc:sldChg chg="modSp">
        <pc:chgData name="Mark Deegan" userId="d7c3c430-de81-4a20-a0bb-12f4a93d7093" providerId="ADAL" clId="{1A31998D-3684-51E8-B313-04AA492EE7E5}" dt="2025-11-19T08:19:01.619" v="728" actId="5793"/>
        <pc:sldMkLst>
          <pc:docMk/>
          <pc:sldMk cId="1846528005" sldId="281"/>
        </pc:sldMkLst>
        <pc:spChg chg="mod">
          <ac:chgData name="Mark Deegan" userId="d7c3c430-de81-4a20-a0bb-12f4a93d7093" providerId="ADAL" clId="{1A31998D-3684-51E8-B313-04AA492EE7E5}" dt="2025-11-19T08:19:01.619" v="728" actId="5793"/>
          <ac:spMkLst>
            <pc:docMk/>
            <pc:sldMk cId="1846528005" sldId="281"/>
            <ac:spMk id="2" creationId="{7AB48994-57E6-C229-85FA-17EF323D4CED}"/>
          </ac:spMkLst>
        </pc:spChg>
        <pc:spChg chg="mod">
          <ac:chgData name="Mark Deegan" userId="d7c3c430-de81-4a20-a0bb-12f4a93d7093" providerId="ADAL" clId="{1A31998D-3684-51E8-B313-04AA492EE7E5}" dt="2025-11-19T08:18:48.379" v="699" actId="27636"/>
          <ac:spMkLst>
            <pc:docMk/>
            <pc:sldMk cId="1846528005" sldId="281"/>
            <ac:spMk id="3" creationId="{C00E2937-53D5-A23A-B1DF-A146626B47D3}"/>
          </ac:spMkLst>
        </pc:spChg>
      </pc:sldChg>
      <pc:sldChg chg="modSp">
        <pc:chgData name="Mark Deegan" userId="d7c3c430-de81-4a20-a0bb-12f4a93d7093" providerId="ADAL" clId="{1A31998D-3684-51E8-B313-04AA492EE7E5}" dt="2025-11-19T08:19:13.079" v="740" actId="5793"/>
        <pc:sldMkLst>
          <pc:docMk/>
          <pc:sldMk cId="3356743690" sldId="282"/>
        </pc:sldMkLst>
        <pc:spChg chg="mod">
          <ac:chgData name="Mark Deegan" userId="d7c3c430-de81-4a20-a0bb-12f4a93d7093" providerId="ADAL" clId="{1A31998D-3684-51E8-B313-04AA492EE7E5}" dt="2025-11-19T08:19:13.079" v="740" actId="5793"/>
          <ac:spMkLst>
            <pc:docMk/>
            <pc:sldMk cId="3356743690" sldId="282"/>
            <ac:spMk id="2" creationId="{0F59A76F-634E-BEC6-D60F-FC8D82AD81AA}"/>
          </ac:spMkLst>
        </pc:spChg>
      </pc:sldChg>
      <pc:sldChg chg="modSp">
        <pc:chgData name="Mark Deegan" userId="d7c3c430-de81-4a20-a0bb-12f4a93d7093" providerId="ADAL" clId="{1A31998D-3684-51E8-B313-04AA492EE7E5}" dt="2025-11-19T08:19:29.099" v="744" actId="5793"/>
        <pc:sldMkLst>
          <pc:docMk/>
          <pc:sldMk cId="3869096248" sldId="283"/>
        </pc:sldMkLst>
        <pc:spChg chg="mod">
          <ac:chgData name="Mark Deegan" userId="d7c3c430-de81-4a20-a0bb-12f4a93d7093" providerId="ADAL" clId="{1A31998D-3684-51E8-B313-04AA492EE7E5}" dt="2025-11-19T08:19:29.099" v="744" actId="5793"/>
          <ac:spMkLst>
            <pc:docMk/>
            <pc:sldMk cId="3869096248" sldId="283"/>
            <ac:spMk id="2" creationId="{A40E9311-2A37-398E-9CD3-94318E46B722}"/>
          </ac:spMkLst>
        </pc:spChg>
      </pc:sldChg>
      <pc:sldChg chg="modSp">
        <pc:chgData name="Mark Deegan" userId="d7c3c430-de81-4a20-a0bb-12f4a93d7093" providerId="ADAL" clId="{1A31998D-3684-51E8-B313-04AA492EE7E5}" dt="2025-11-19T08:20:28.200" v="755" actId="20577"/>
        <pc:sldMkLst>
          <pc:docMk/>
          <pc:sldMk cId="3942966546" sldId="285"/>
        </pc:sldMkLst>
        <pc:spChg chg="mod">
          <ac:chgData name="Mark Deegan" userId="d7c3c430-de81-4a20-a0bb-12f4a93d7093" providerId="ADAL" clId="{1A31998D-3684-51E8-B313-04AA492EE7E5}" dt="2025-11-19T08:20:28.200" v="755" actId="20577"/>
          <ac:spMkLst>
            <pc:docMk/>
            <pc:sldMk cId="3942966546" sldId="285"/>
            <ac:spMk id="2" creationId="{065B595F-ABA8-5BED-6CD7-CA09DEE5A16C}"/>
          </ac:spMkLst>
        </pc:spChg>
      </pc:sldChg>
      <pc:sldChg chg="modSp">
        <pc:chgData name="Mark Deegan" userId="d7c3c430-de81-4a20-a0bb-12f4a93d7093" providerId="ADAL" clId="{1A31998D-3684-51E8-B313-04AA492EE7E5}" dt="2025-11-19T08:20:13.691" v="748" actId="5793"/>
        <pc:sldMkLst>
          <pc:docMk/>
          <pc:sldMk cId="3287540256" sldId="286"/>
        </pc:sldMkLst>
        <pc:spChg chg="mod">
          <ac:chgData name="Mark Deegan" userId="d7c3c430-de81-4a20-a0bb-12f4a93d7093" providerId="ADAL" clId="{1A31998D-3684-51E8-B313-04AA492EE7E5}" dt="2025-11-19T08:20:13.691" v="748" actId="5793"/>
          <ac:spMkLst>
            <pc:docMk/>
            <pc:sldMk cId="3287540256" sldId="286"/>
            <ac:spMk id="2" creationId="{C2F3C5B1-F27F-5FB1-6BBB-922EFA2D888A}"/>
          </ac:spMkLst>
        </pc:spChg>
      </pc:sldChg>
      <pc:sldChg chg="modSp">
        <pc:chgData name="Mark Deegan" userId="d7c3c430-de81-4a20-a0bb-12f4a93d7093" providerId="ADAL" clId="{1A31998D-3684-51E8-B313-04AA492EE7E5}" dt="2025-11-19T08:20:31.348" v="759" actId="5793"/>
        <pc:sldMkLst>
          <pc:docMk/>
          <pc:sldMk cId="494389473" sldId="287"/>
        </pc:sldMkLst>
        <pc:spChg chg="mod">
          <ac:chgData name="Mark Deegan" userId="d7c3c430-de81-4a20-a0bb-12f4a93d7093" providerId="ADAL" clId="{1A31998D-3684-51E8-B313-04AA492EE7E5}" dt="2025-11-19T08:20:31.348" v="759" actId="5793"/>
          <ac:spMkLst>
            <pc:docMk/>
            <pc:sldMk cId="494389473" sldId="287"/>
            <ac:spMk id="2" creationId="{EF93F98B-D5BA-00C8-8D29-258F9C80D7CB}"/>
          </ac:spMkLst>
        </pc:spChg>
      </pc:sldChg>
      <pc:sldChg chg="modSp">
        <pc:chgData name="Mark Deegan" userId="d7c3c430-de81-4a20-a0bb-12f4a93d7093" providerId="ADAL" clId="{1A31998D-3684-51E8-B313-04AA492EE7E5}" dt="2025-11-19T08:20:40.612" v="764" actId="20577"/>
        <pc:sldMkLst>
          <pc:docMk/>
          <pc:sldMk cId="2122773446" sldId="288"/>
        </pc:sldMkLst>
        <pc:spChg chg="mod">
          <ac:chgData name="Mark Deegan" userId="d7c3c430-de81-4a20-a0bb-12f4a93d7093" providerId="ADAL" clId="{1A31998D-3684-51E8-B313-04AA492EE7E5}" dt="2025-11-19T08:20:40.612" v="764" actId="20577"/>
          <ac:spMkLst>
            <pc:docMk/>
            <pc:sldMk cId="2122773446" sldId="288"/>
            <ac:spMk id="2" creationId="{AF7949D6-178C-D625-BCD2-74FE46B342A0}"/>
          </ac:spMkLst>
        </pc:spChg>
      </pc:sldChg>
      <pc:sldChg chg="modSp">
        <pc:chgData name="Mark Deegan" userId="d7c3c430-de81-4a20-a0bb-12f4a93d7093" providerId="ADAL" clId="{1A31998D-3684-51E8-B313-04AA492EE7E5}" dt="2025-11-19T08:25:33.022" v="849" actId="20577"/>
        <pc:sldMkLst>
          <pc:docMk/>
          <pc:sldMk cId="2953938829" sldId="299"/>
        </pc:sldMkLst>
        <pc:spChg chg="mod">
          <ac:chgData name="Mark Deegan" userId="d7c3c430-de81-4a20-a0bb-12f4a93d7093" providerId="ADAL" clId="{1A31998D-3684-51E8-B313-04AA492EE7E5}" dt="2025-11-19T08:25:33.022" v="849" actId="20577"/>
          <ac:spMkLst>
            <pc:docMk/>
            <pc:sldMk cId="2953938829" sldId="299"/>
            <ac:spMk id="3" creationId="{F6D5C0F2-E984-BE3B-A3F7-3402C21911AF}"/>
          </ac:spMkLst>
        </pc:spChg>
      </pc:sldChg>
      <pc:sldChg chg="modSp">
        <pc:chgData name="Mark Deegan" userId="d7c3c430-de81-4a20-a0bb-12f4a93d7093" providerId="ADAL" clId="{1A31998D-3684-51E8-B313-04AA492EE7E5}" dt="2025-11-19T08:25:08.044" v="835" actId="5793"/>
        <pc:sldMkLst>
          <pc:docMk/>
          <pc:sldMk cId="3166217412" sldId="303"/>
        </pc:sldMkLst>
        <pc:spChg chg="mod">
          <ac:chgData name="Mark Deegan" userId="d7c3c430-de81-4a20-a0bb-12f4a93d7093" providerId="ADAL" clId="{1A31998D-3684-51E8-B313-04AA492EE7E5}" dt="2025-11-19T08:25:08.044" v="835" actId="5793"/>
          <ac:spMkLst>
            <pc:docMk/>
            <pc:sldMk cId="3166217412" sldId="303"/>
            <ac:spMk id="2" creationId="{04AB311D-AA23-AD40-9B2F-59626EBF6D71}"/>
          </ac:spMkLst>
        </pc:spChg>
      </pc:sldChg>
      <pc:sldChg chg="addSp delSp modSp new mod">
        <pc:chgData name="Mark Deegan" userId="d7c3c430-de81-4a20-a0bb-12f4a93d7093" providerId="ADAL" clId="{1A31998D-3684-51E8-B313-04AA492EE7E5}" dt="2025-11-06T09:49:25.816" v="565"/>
        <pc:sldMkLst>
          <pc:docMk/>
          <pc:sldMk cId="1444376771" sldId="304"/>
        </pc:sldMkLst>
        <pc:spChg chg="mod">
          <ac:chgData name="Mark Deegan" userId="d7c3c430-de81-4a20-a0bb-12f4a93d7093" providerId="ADAL" clId="{1A31998D-3684-51E8-B313-04AA492EE7E5}" dt="2025-11-06T09:45:59.345" v="41" actId="20577"/>
          <ac:spMkLst>
            <pc:docMk/>
            <pc:sldMk cId="1444376771" sldId="304"/>
            <ac:spMk id="2" creationId="{33EC650F-6E5F-A913-6E2D-47F157859E42}"/>
          </ac:spMkLst>
        </pc:spChg>
        <pc:spChg chg="mod">
          <ac:chgData name="Mark Deegan" userId="d7c3c430-de81-4a20-a0bb-12f4a93d7093" providerId="ADAL" clId="{1A31998D-3684-51E8-B313-04AA492EE7E5}" dt="2025-11-06T09:47:53.586" v="308" actId="14100"/>
          <ac:spMkLst>
            <pc:docMk/>
            <pc:sldMk cId="1444376771" sldId="304"/>
            <ac:spMk id="3" creationId="{1230B005-FB1E-9056-3EB1-AEE533C68503}"/>
          </ac:spMkLst>
        </pc:spChg>
        <pc:graphicFrameChg chg="add mod modGraphic">
          <ac:chgData name="Mark Deegan" userId="d7c3c430-de81-4a20-a0bb-12f4a93d7093" providerId="ADAL" clId="{1A31998D-3684-51E8-B313-04AA492EE7E5}" dt="2025-11-06T09:49:19.514" v="563" actId="404"/>
          <ac:graphicFrameMkLst>
            <pc:docMk/>
            <pc:sldMk cId="1444376771" sldId="304"/>
            <ac:graphicFrameMk id="5" creationId="{133EA7F5-5981-B6DD-0470-63255C4F614C}"/>
          </ac:graphicFrameMkLst>
        </pc:graphicFrameChg>
      </pc:sldChg>
      <pc:sldChg chg="addSp delSp modSp new mod">
        <pc:chgData name="Mark Deegan" userId="d7c3c430-de81-4a20-a0bb-12f4a93d7093" providerId="ADAL" clId="{1A31998D-3684-51E8-B313-04AA492EE7E5}" dt="2025-11-06T09:54:35.107" v="672" actId="478"/>
        <pc:sldMkLst>
          <pc:docMk/>
          <pc:sldMk cId="2359006109" sldId="305"/>
        </pc:sldMkLst>
        <pc:spChg chg="mod">
          <ac:chgData name="Mark Deegan" userId="d7c3c430-de81-4a20-a0bb-12f4a93d7093" providerId="ADAL" clId="{1A31998D-3684-51E8-B313-04AA492EE7E5}" dt="2025-11-06T09:50:05.541" v="584" actId="20577"/>
          <ac:spMkLst>
            <pc:docMk/>
            <pc:sldMk cId="2359006109" sldId="305"/>
            <ac:spMk id="2" creationId="{473A7563-E9D3-AB1F-94D0-8775B47C193D}"/>
          </ac:spMkLst>
        </pc:spChg>
        <pc:spChg chg="add mod">
          <ac:chgData name="Mark Deegan" userId="d7c3c430-de81-4a20-a0bb-12f4a93d7093" providerId="ADAL" clId="{1A31998D-3684-51E8-B313-04AA492EE7E5}" dt="2025-11-06T09:54:28.075" v="671"/>
          <ac:spMkLst>
            <pc:docMk/>
            <pc:sldMk cId="2359006109" sldId="305"/>
            <ac:spMk id="9" creationId="{3D72B611-A498-0BCF-9279-E9E7A46AB84F}"/>
          </ac:spMkLst>
        </pc:spChg>
      </pc:sldChg>
      <pc:sldChg chg="modSp add modNotes">
        <pc:chgData name="Mark Deegan" userId="d7c3c430-de81-4a20-a0bb-12f4a93d7093" providerId="ADAL" clId="{1A31998D-3684-51E8-B313-04AA492EE7E5}" dt="2025-11-19T08:18:16.652" v="697" actId="5793"/>
        <pc:sldMkLst>
          <pc:docMk/>
          <pc:sldMk cId="2631769751" sldId="306"/>
        </pc:sldMkLst>
        <pc:spChg chg="mod">
          <ac:chgData name="Mark Deegan" userId="d7c3c430-de81-4a20-a0bb-12f4a93d7093" providerId="ADAL" clId="{1A31998D-3684-51E8-B313-04AA492EE7E5}" dt="2025-11-19T08:18:16.652" v="697" actId="5793"/>
          <ac:spMkLst>
            <pc:docMk/>
            <pc:sldMk cId="2631769751" sldId="306"/>
            <ac:spMk id="2" creationId="{7A13AE7B-865D-B135-68FF-A81A68EB6E19}"/>
          </ac:spMkLst>
        </pc:spChg>
      </pc:sldChg>
      <pc:sldChg chg="modSp add modNotes">
        <pc:chgData name="Mark Deegan" userId="d7c3c430-de81-4a20-a0bb-12f4a93d7093" providerId="ADAL" clId="{1A31998D-3684-51E8-B313-04AA492EE7E5}" dt="2025-11-19T08:18:54.441" v="724" actId="5793"/>
        <pc:sldMkLst>
          <pc:docMk/>
          <pc:sldMk cId="3693976029" sldId="307"/>
        </pc:sldMkLst>
        <pc:spChg chg="mod">
          <ac:chgData name="Mark Deegan" userId="d7c3c430-de81-4a20-a0bb-12f4a93d7093" providerId="ADAL" clId="{1A31998D-3684-51E8-B313-04AA492EE7E5}" dt="2025-11-19T08:18:54.441" v="724" actId="5793"/>
          <ac:spMkLst>
            <pc:docMk/>
            <pc:sldMk cId="3693976029" sldId="307"/>
            <ac:spMk id="2" creationId="{99AECA60-0ED4-F441-708D-52497CC48C34}"/>
          </ac:spMkLst>
        </pc:spChg>
      </pc:sldChg>
      <pc:sldChg chg="modSp add modNotes">
        <pc:chgData name="Mark Deegan" userId="d7c3c430-de81-4a20-a0bb-12f4a93d7093" providerId="ADAL" clId="{1A31998D-3684-51E8-B313-04AA492EE7E5}" dt="2025-11-19T09:19:17.266" v="889" actId="20577"/>
        <pc:sldMkLst>
          <pc:docMk/>
          <pc:sldMk cId="4102312705" sldId="308"/>
        </pc:sldMkLst>
        <pc:spChg chg="mod">
          <ac:chgData name="Mark Deegan" userId="d7c3c430-de81-4a20-a0bb-12f4a93d7093" providerId="ADAL" clId="{1A31998D-3684-51E8-B313-04AA492EE7E5}" dt="2025-11-19T09:19:00.013" v="862" actId="20577"/>
          <ac:spMkLst>
            <pc:docMk/>
            <pc:sldMk cId="4102312705" sldId="308"/>
            <ac:spMk id="2" creationId="{961B1788-B4D2-63B0-F45E-66FD2EB02DD7}"/>
          </ac:spMkLst>
        </pc:spChg>
        <pc:spChg chg="mod">
          <ac:chgData name="Mark Deegan" userId="d7c3c430-de81-4a20-a0bb-12f4a93d7093" providerId="ADAL" clId="{1A31998D-3684-51E8-B313-04AA492EE7E5}" dt="2025-11-19T09:19:17.266" v="889" actId="20577"/>
          <ac:spMkLst>
            <pc:docMk/>
            <pc:sldMk cId="4102312705" sldId="308"/>
            <ac:spMk id="3" creationId="{6350DCF6-1961-D4BF-F4DF-3E07A322DCBE}"/>
          </ac:spMkLst>
        </pc:spChg>
      </pc:sldChg>
      <pc:sldChg chg="addSp delSp modSp new mod">
        <pc:chgData name="Mark Deegan" userId="d7c3c430-de81-4a20-a0bb-12f4a93d7093" providerId="ADAL" clId="{1A31998D-3684-51E8-B313-04AA492EE7E5}" dt="2025-11-19T09:25:10.136" v="1485" actId="14100"/>
        <pc:sldMkLst>
          <pc:docMk/>
          <pc:sldMk cId="660126265" sldId="309"/>
        </pc:sldMkLst>
        <pc:spChg chg="del">
          <ac:chgData name="Mark Deegan" userId="d7c3c430-de81-4a20-a0bb-12f4a93d7093" providerId="ADAL" clId="{1A31998D-3684-51E8-B313-04AA492EE7E5}" dt="2025-11-19T09:24:57.731" v="1481" actId="478"/>
          <ac:spMkLst>
            <pc:docMk/>
            <pc:sldMk cId="660126265" sldId="309"/>
            <ac:spMk id="2" creationId="{AF53A93F-12EE-49F9-D0AA-C7873B9E5C88}"/>
          </ac:spMkLst>
        </pc:spChg>
        <pc:spChg chg="del">
          <ac:chgData name="Mark Deegan" userId="d7c3c430-de81-4a20-a0bb-12f4a93d7093" providerId="ADAL" clId="{1A31998D-3684-51E8-B313-04AA492EE7E5}" dt="2025-11-19T09:19:46.594" v="891" actId="3680"/>
          <ac:spMkLst>
            <pc:docMk/>
            <pc:sldMk cId="660126265" sldId="309"/>
            <ac:spMk id="3" creationId="{9EEBC5C5-27A0-7A39-B247-E3595F067381}"/>
          </ac:spMkLst>
        </pc:spChg>
        <pc:graphicFrameChg chg="add mod ord modGraphic">
          <ac:chgData name="Mark Deegan" userId="d7c3c430-de81-4a20-a0bb-12f4a93d7093" providerId="ADAL" clId="{1A31998D-3684-51E8-B313-04AA492EE7E5}" dt="2025-11-19T09:25:10.136" v="1485" actId="14100"/>
          <ac:graphicFrameMkLst>
            <pc:docMk/>
            <pc:sldMk cId="660126265" sldId="309"/>
            <ac:graphicFrameMk id="4" creationId="{F608BEAB-305A-4124-7B91-365FC94169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D8673E-AB0D-9540-8560-86D80BDDBE6D}" type="datetimeFigureOut">
              <a:rPr lang="en-IE" smtClean="0"/>
              <a:t>19/11/2025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0CA4E-99A0-9246-B2B3-6818F5E5FA09}" type="slidenum">
              <a:rPr lang="en-IE" smtClean="0"/>
              <a:t>‹#›</a:t>
            </a:fld>
            <a:endParaRPr lang="en-IE"/>
          </a:p>
        </p:txBody>
      </p:sp>
    </p:spTree>
    <p:extLst>
      <p:ext uri="{BB962C8B-B14F-4D97-AF65-F5344CB8AC3E}">
        <p14:creationId xmlns:p14="http://schemas.microsoft.com/office/powerpoint/2010/main" val="4112312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a:t>
            </a:fld>
            <a:endParaRPr lang="en-IE"/>
          </a:p>
        </p:txBody>
      </p:sp>
    </p:spTree>
    <p:extLst>
      <p:ext uri="{BB962C8B-B14F-4D97-AF65-F5344CB8AC3E}">
        <p14:creationId xmlns:p14="http://schemas.microsoft.com/office/powerpoint/2010/main" val="3531920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a:t>
            </a:fld>
            <a:endParaRPr lang="en-IE"/>
          </a:p>
        </p:txBody>
      </p:sp>
    </p:spTree>
    <p:extLst>
      <p:ext uri="{BB962C8B-B14F-4D97-AF65-F5344CB8AC3E}">
        <p14:creationId xmlns:p14="http://schemas.microsoft.com/office/powerpoint/2010/main" val="2620994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a:t>
            </a:fld>
            <a:endParaRPr lang="en-IE"/>
          </a:p>
        </p:txBody>
      </p:sp>
    </p:spTree>
    <p:extLst>
      <p:ext uri="{BB962C8B-B14F-4D97-AF65-F5344CB8AC3E}">
        <p14:creationId xmlns:p14="http://schemas.microsoft.com/office/powerpoint/2010/main" val="2434120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5</a:t>
            </a:fld>
            <a:endParaRPr lang="en-IE"/>
          </a:p>
        </p:txBody>
      </p:sp>
    </p:spTree>
    <p:extLst>
      <p:ext uri="{BB962C8B-B14F-4D97-AF65-F5344CB8AC3E}">
        <p14:creationId xmlns:p14="http://schemas.microsoft.com/office/powerpoint/2010/main" val="842815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10</a:t>
            </a:fld>
            <a:endParaRPr lang="en-IE"/>
          </a:p>
        </p:txBody>
      </p:sp>
    </p:spTree>
    <p:extLst>
      <p:ext uri="{BB962C8B-B14F-4D97-AF65-F5344CB8AC3E}">
        <p14:creationId xmlns:p14="http://schemas.microsoft.com/office/powerpoint/2010/main" val="2381435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11</a:t>
            </a:fld>
            <a:endParaRPr lang="en-IE"/>
          </a:p>
        </p:txBody>
      </p:sp>
    </p:spTree>
    <p:extLst>
      <p:ext uri="{BB962C8B-B14F-4D97-AF65-F5344CB8AC3E}">
        <p14:creationId xmlns:p14="http://schemas.microsoft.com/office/powerpoint/2010/main" val="522607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12</a:t>
            </a:fld>
            <a:endParaRPr lang="en-IE"/>
          </a:p>
        </p:txBody>
      </p:sp>
    </p:spTree>
    <p:extLst>
      <p:ext uri="{BB962C8B-B14F-4D97-AF65-F5344CB8AC3E}">
        <p14:creationId xmlns:p14="http://schemas.microsoft.com/office/powerpoint/2010/main" val="1565520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13</a:t>
            </a:fld>
            <a:endParaRPr lang="en-IE"/>
          </a:p>
        </p:txBody>
      </p:sp>
    </p:spTree>
    <p:extLst>
      <p:ext uri="{BB962C8B-B14F-4D97-AF65-F5344CB8AC3E}">
        <p14:creationId xmlns:p14="http://schemas.microsoft.com/office/powerpoint/2010/main" val="3309178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14</a:t>
            </a:fld>
            <a:endParaRPr lang="en-IE"/>
          </a:p>
        </p:txBody>
      </p:sp>
    </p:spTree>
    <p:extLst>
      <p:ext uri="{BB962C8B-B14F-4D97-AF65-F5344CB8AC3E}">
        <p14:creationId xmlns:p14="http://schemas.microsoft.com/office/powerpoint/2010/main" val="1841035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15</a:t>
            </a:fld>
            <a:endParaRPr lang="en-IE"/>
          </a:p>
        </p:txBody>
      </p:sp>
    </p:spTree>
    <p:extLst>
      <p:ext uri="{BB962C8B-B14F-4D97-AF65-F5344CB8AC3E}">
        <p14:creationId xmlns:p14="http://schemas.microsoft.com/office/powerpoint/2010/main" val="159256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16</a:t>
            </a:fld>
            <a:endParaRPr lang="en-IE"/>
          </a:p>
        </p:txBody>
      </p:sp>
    </p:spTree>
    <p:extLst>
      <p:ext uri="{BB962C8B-B14F-4D97-AF65-F5344CB8AC3E}">
        <p14:creationId xmlns:p14="http://schemas.microsoft.com/office/powerpoint/2010/main" val="1932095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17</a:t>
            </a:fld>
            <a:endParaRPr lang="en-IE"/>
          </a:p>
        </p:txBody>
      </p:sp>
    </p:spTree>
    <p:extLst>
      <p:ext uri="{BB962C8B-B14F-4D97-AF65-F5344CB8AC3E}">
        <p14:creationId xmlns:p14="http://schemas.microsoft.com/office/powerpoint/2010/main" val="4286448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18</a:t>
            </a:fld>
            <a:endParaRPr lang="en-IE"/>
          </a:p>
        </p:txBody>
      </p:sp>
    </p:spTree>
    <p:extLst>
      <p:ext uri="{BB962C8B-B14F-4D97-AF65-F5344CB8AC3E}">
        <p14:creationId xmlns:p14="http://schemas.microsoft.com/office/powerpoint/2010/main" val="2959743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19</a:t>
            </a:fld>
            <a:endParaRPr lang="en-IE"/>
          </a:p>
        </p:txBody>
      </p:sp>
    </p:spTree>
    <p:extLst>
      <p:ext uri="{BB962C8B-B14F-4D97-AF65-F5344CB8AC3E}">
        <p14:creationId xmlns:p14="http://schemas.microsoft.com/office/powerpoint/2010/main" val="2537888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20</a:t>
            </a:fld>
            <a:endParaRPr lang="en-IE"/>
          </a:p>
        </p:txBody>
      </p:sp>
    </p:spTree>
    <p:extLst>
      <p:ext uri="{BB962C8B-B14F-4D97-AF65-F5344CB8AC3E}">
        <p14:creationId xmlns:p14="http://schemas.microsoft.com/office/powerpoint/2010/main" val="1337101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21</a:t>
            </a:fld>
            <a:endParaRPr lang="en-IE"/>
          </a:p>
        </p:txBody>
      </p:sp>
    </p:spTree>
    <p:extLst>
      <p:ext uri="{BB962C8B-B14F-4D97-AF65-F5344CB8AC3E}">
        <p14:creationId xmlns:p14="http://schemas.microsoft.com/office/powerpoint/2010/main" val="2934729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22</a:t>
            </a:fld>
            <a:endParaRPr lang="en-IE"/>
          </a:p>
        </p:txBody>
      </p:sp>
    </p:spTree>
    <p:extLst>
      <p:ext uri="{BB962C8B-B14F-4D97-AF65-F5344CB8AC3E}">
        <p14:creationId xmlns:p14="http://schemas.microsoft.com/office/powerpoint/2010/main" val="182240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23</a:t>
            </a:fld>
            <a:endParaRPr lang="en-IE"/>
          </a:p>
        </p:txBody>
      </p:sp>
    </p:spTree>
    <p:extLst>
      <p:ext uri="{BB962C8B-B14F-4D97-AF65-F5344CB8AC3E}">
        <p14:creationId xmlns:p14="http://schemas.microsoft.com/office/powerpoint/2010/main" val="35815610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F656D-4E74-FC9A-E752-26838C79D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973CF-CD14-5091-A075-785803F18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D312E-7608-DC74-C2B3-87D006492E77}"/>
              </a:ext>
            </a:extLst>
          </p:cNvPr>
          <p:cNvSpPr>
            <a:spLocks noGrp="1"/>
          </p:cNvSpPr>
          <p:nvPr>
            <p:ph type="body" idx="1"/>
          </p:nvPr>
        </p:nvSpPr>
        <p:spPr/>
        <p:txBody>
          <a:bodyPr/>
          <a:lstStyle/>
          <a:p>
            <a:endParaRPr lang="en-IE"/>
          </a:p>
        </p:txBody>
      </p:sp>
      <p:sp>
        <p:nvSpPr>
          <p:cNvPr id="4" name="Slide Number Placeholder 3">
            <a:extLst>
              <a:ext uri="{FF2B5EF4-FFF2-40B4-BE49-F238E27FC236}">
                <a16:creationId xmlns:a16="http://schemas.microsoft.com/office/drawing/2014/main" id="{3C4C3CC4-58FA-5FF6-EC57-BB362AB75565}"/>
              </a:ext>
            </a:extLst>
          </p:cNvPr>
          <p:cNvSpPr>
            <a:spLocks noGrp="1"/>
          </p:cNvSpPr>
          <p:nvPr>
            <p:ph type="sldNum" sz="quarter" idx="5"/>
          </p:nvPr>
        </p:nvSpPr>
        <p:spPr/>
        <p:txBody>
          <a:bodyPr/>
          <a:lstStyle/>
          <a:p>
            <a:fld id="{73C0CA4E-99A0-9246-B2B3-6818F5E5FA09}" type="slidenum">
              <a:rPr lang="en-IE" smtClean="0"/>
              <a:t>24</a:t>
            </a:fld>
            <a:endParaRPr lang="en-IE"/>
          </a:p>
        </p:txBody>
      </p:sp>
    </p:spTree>
    <p:extLst>
      <p:ext uri="{BB962C8B-B14F-4D97-AF65-F5344CB8AC3E}">
        <p14:creationId xmlns:p14="http://schemas.microsoft.com/office/powerpoint/2010/main" val="1687473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25</a:t>
            </a:fld>
            <a:endParaRPr lang="en-IE"/>
          </a:p>
        </p:txBody>
      </p:sp>
    </p:spTree>
    <p:extLst>
      <p:ext uri="{BB962C8B-B14F-4D97-AF65-F5344CB8AC3E}">
        <p14:creationId xmlns:p14="http://schemas.microsoft.com/office/powerpoint/2010/main" val="3128648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73C0CA4E-99A0-9246-B2B3-6818F5E5FA09}" type="slidenum">
              <a:rPr lang="en-IE" smtClean="0"/>
              <a:t>26</a:t>
            </a:fld>
            <a:endParaRPr lang="en-IE"/>
          </a:p>
        </p:txBody>
      </p:sp>
    </p:spTree>
    <p:extLst>
      <p:ext uri="{BB962C8B-B14F-4D97-AF65-F5344CB8AC3E}">
        <p14:creationId xmlns:p14="http://schemas.microsoft.com/office/powerpoint/2010/main" val="4002687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27</a:t>
            </a:fld>
            <a:endParaRPr lang="en-IE"/>
          </a:p>
        </p:txBody>
      </p:sp>
    </p:spTree>
    <p:extLst>
      <p:ext uri="{BB962C8B-B14F-4D97-AF65-F5344CB8AC3E}">
        <p14:creationId xmlns:p14="http://schemas.microsoft.com/office/powerpoint/2010/main" val="30922765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28</a:t>
            </a:fld>
            <a:endParaRPr lang="en-IE"/>
          </a:p>
        </p:txBody>
      </p:sp>
    </p:spTree>
    <p:extLst>
      <p:ext uri="{BB962C8B-B14F-4D97-AF65-F5344CB8AC3E}">
        <p14:creationId xmlns:p14="http://schemas.microsoft.com/office/powerpoint/2010/main" val="2840571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29</a:t>
            </a:fld>
            <a:endParaRPr lang="en-IE"/>
          </a:p>
        </p:txBody>
      </p:sp>
    </p:spTree>
    <p:extLst>
      <p:ext uri="{BB962C8B-B14F-4D97-AF65-F5344CB8AC3E}">
        <p14:creationId xmlns:p14="http://schemas.microsoft.com/office/powerpoint/2010/main" val="27554136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a:p>
            <a:endParaRPr lang="en-IE" dirty="0"/>
          </a:p>
          <a:p>
            <a:r>
              <a:rPr lang="en-IE" dirty="0"/>
              <a:t>https://</a:t>
            </a:r>
            <a:r>
              <a:rPr lang="en-IE" dirty="0" err="1"/>
              <a:t>www.enjoyalgorithms.com</a:t>
            </a:r>
            <a:r>
              <a:rPr lang="en-IE" dirty="0"/>
              <a:t>/blog/cohesion-and-coupling-in-oops</a:t>
            </a:r>
          </a:p>
        </p:txBody>
      </p:sp>
      <p:sp>
        <p:nvSpPr>
          <p:cNvPr id="4" name="Slide Number Placeholder 3"/>
          <p:cNvSpPr>
            <a:spLocks noGrp="1"/>
          </p:cNvSpPr>
          <p:nvPr>
            <p:ph type="sldNum" sz="quarter" idx="5"/>
          </p:nvPr>
        </p:nvSpPr>
        <p:spPr/>
        <p:txBody>
          <a:bodyPr/>
          <a:lstStyle/>
          <a:p>
            <a:fld id="{73C0CA4E-99A0-9246-B2B3-6818F5E5FA09}" type="slidenum">
              <a:rPr lang="en-IE" smtClean="0"/>
              <a:t>30</a:t>
            </a:fld>
            <a:endParaRPr lang="en-IE"/>
          </a:p>
        </p:txBody>
      </p:sp>
    </p:spTree>
    <p:extLst>
      <p:ext uri="{BB962C8B-B14F-4D97-AF65-F5344CB8AC3E}">
        <p14:creationId xmlns:p14="http://schemas.microsoft.com/office/powerpoint/2010/main" val="232367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73C0CA4E-99A0-9246-B2B3-6818F5E5FA09}" type="slidenum">
              <a:rPr lang="en-IE" smtClean="0"/>
              <a:t>31</a:t>
            </a:fld>
            <a:endParaRPr lang="en-IE"/>
          </a:p>
        </p:txBody>
      </p:sp>
    </p:spTree>
    <p:extLst>
      <p:ext uri="{BB962C8B-B14F-4D97-AF65-F5344CB8AC3E}">
        <p14:creationId xmlns:p14="http://schemas.microsoft.com/office/powerpoint/2010/main" val="7900253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32</a:t>
            </a:fld>
            <a:endParaRPr lang="en-IE"/>
          </a:p>
        </p:txBody>
      </p:sp>
    </p:spTree>
    <p:extLst>
      <p:ext uri="{BB962C8B-B14F-4D97-AF65-F5344CB8AC3E}">
        <p14:creationId xmlns:p14="http://schemas.microsoft.com/office/powerpoint/2010/main" val="29381000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33</a:t>
            </a:fld>
            <a:endParaRPr lang="en-IE"/>
          </a:p>
        </p:txBody>
      </p:sp>
    </p:spTree>
    <p:extLst>
      <p:ext uri="{BB962C8B-B14F-4D97-AF65-F5344CB8AC3E}">
        <p14:creationId xmlns:p14="http://schemas.microsoft.com/office/powerpoint/2010/main" val="6795446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34</a:t>
            </a:fld>
            <a:endParaRPr lang="en-IE"/>
          </a:p>
        </p:txBody>
      </p:sp>
    </p:spTree>
    <p:extLst>
      <p:ext uri="{BB962C8B-B14F-4D97-AF65-F5344CB8AC3E}">
        <p14:creationId xmlns:p14="http://schemas.microsoft.com/office/powerpoint/2010/main" val="40882719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35</a:t>
            </a:fld>
            <a:endParaRPr lang="en-IE"/>
          </a:p>
        </p:txBody>
      </p:sp>
    </p:spTree>
    <p:extLst>
      <p:ext uri="{BB962C8B-B14F-4D97-AF65-F5344CB8AC3E}">
        <p14:creationId xmlns:p14="http://schemas.microsoft.com/office/powerpoint/2010/main" val="38840913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36</a:t>
            </a:fld>
            <a:endParaRPr lang="en-IE"/>
          </a:p>
        </p:txBody>
      </p:sp>
    </p:spTree>
    <p:extLst>
      <p:ext uri="{BB962C8B-B14F-4D97-AF65-F5344CB8AC3E}">
        <p14:creationId xmlns:p14="http://schemas.microsoft.com/office/powerpoint/2010/main" val="5117224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37</a:t>
            </a:fld>
            <a:endParaRPr lang="en-IE"/>
          </a:p>
        </p:txBody>
      </p:sp>
    </p:spTree>
    <p:extLst>
      <p:ext uri="{BB962C8B-B14F-4D97-AF65-F5344CB8AC3E}">
        <p14:creationId xmlns:p14="http://schemas.microsoft.com/office/powerpoint/2010/main" val="11731916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2F93F-8B21-0CCE-11BA-9B09A7237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E5A20-9FBE-E261-352B-3A0B664C3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0CAEE-16F8-1D28-8266-D87E9EEBCA98}"/>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CD4C0877-C4F8-D19C-0F45-692FB9C128EE}"/>
              </a:ext>
            </a:extLst>
          </p:cNvPr>
          <p:cNvSpPr>
            <a:spLocks noGrp="1"/>
          </p:cNvSpPr>
          <p:nvPr>
            <p:ph type="sldNum" sz="quarter" idx="5"/>
          </p:nvPr>
        </p:nvSpPr>
        <p:spPr/>
        <p:txBody>
          <a:bodyPr/>
          <a:lstStyle/>
          <a:p>
            <a:fld id="{73C0CA4E-99A0-9246-B2B3-6818F5E5FA09}" type="slidenum">
              <a:rPr lang="en-IE" smtClean="0"/>
              <a:t>38</a:t>
            </a:fld>
            <a:endParaRPr lang="en-IE"/>
          </a:p>
        </p:txBody>
      </p:sp>
    </p:spTree>
    <p:extLst>
      <p:ext uri="{BB962C8B-B14F-4D97-AF65-F5344CB8AC3E}">
        <p14:creationId xmlns:p14="http://schemas.microsoft.com/office/powerpoint/2010/main" val="38303414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4F922-D962-8D37-FCDB-593A7F02B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23C141-3222-0497-5B0B-D3734C74F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721F4-172D-0ACD-5D55-00BEA70DBA20}"/>
              </a:ext>
            </a:extLst>
          </p:cNvPr>
          <p:cNvSpPr>
            <a:spLocks noGrp="1"/>
          </p:cNvSpPr>
          <p:nvPr>
            <p:ph type="body" idx="1"/>
          </p:nvPr>
        </p:nvSpPr>
        <p:spPr/>
        <p:txBody>
          <a:bodyPr/>
          <a:lstStyle/>
          <a:p>
            <a:endParaRPr lang="en-IE"/>
          </a:p>
        </p:txBody>
      </p:sp>
      <p:sp>
        <p:nvSpPr>
          <p:cNvPr id="4" name="Slide Number Placeholder 3">
            <a:extLst>
              <a:ext uri="{FF2B5EF4-FFF2-40B4-BE49-F238E27FC236}">
                <a16:creationId xmlns:a16="http://schemas.microsoft.com/office/drawing/2014/main" id="{222650D4-A91F-6BB2-DA2A-EBCFEDEB0F23}"/>
              </a:ext>
            </a:extLst>
          </p:cNvPr>
          <p:cNvSpPr>
            <a:spLocks noGrp="1"/>
          </p:cNvSpPr>
          <p:nvPr>
            <p:ph type="sldNum" sz="quarter" idx="5"/>
          </p:nvPr>
        </p:nvSpPr>
        <p:spPr/>
        <p:txBody>
          <a:bodyPr/>
          <a:lstStyle/>
          <a:p>
            <a:fld id="{73C0CA4E-99A0-9246-B2B3-6818F5E5FA09}" type="slidenum">
              <a:rPr lang="en-IE" smtClean="0"/>
              <a:t>39</a:t>
            </a:fld>
            <a:endParaRPr lang="en-IE"/>
          </a:p>
        </p:txBody>
      </p:sp>
    </p:spTree>
    <p:extLst>
      <p:ext uri="{BB962C8B-B14F-4D97-AF65-F5344CB8AC3E}">
        <p14:creationId xmlns:p14="http://schemas.microsoft.com/office/powerpoint/2010/main" val="35323283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40</a:t>
            </a:fld>
            <a:endParaRPr lang="en-IE"/>
          </a:p>
        </p:txBody>
      </p:sp>
    </p:spTree>
    <p:extLst>
      <p:ext uri="{BB962C8B-B14F-4D97-AF65-F5344CB8AC3E}">
        <p14:creationId xmlns:p14="http://schemas.microsoft.com/office/powerpoint/2010/main" val="31566522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41</a:t>
            </a:fld>
            <a:endParaRPr lang="en-IE"/>
          </a:p>
        </p:txBody>
      </p:sp>
    </p:spTree>
    <p:extLst>
      <p:ext uri="{BB962C8B-B14F-4D97-AF65-F5344CB8AC3E}">
        <p14:creationId xmlns:p14="http://schemas.microsoft.com/office/powerpoint/2010/main" val="19181716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42</a:t>
            </a:fld>
            <a:endParaRPr lang="en-IE"/>
          </a:p>
        </p:txBody>
      </p:sp>
    </p:spTree>
    <p:extLst>
      <p:ext uri="{BB962C8B-B14F-4D97-AF65-F5344CB8AC3E}">
        <p14:creationId xmlns:p14="http://schemas.microsoft.com/office/powerpoint/2010/main" val="32872130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43</a:t>
            </a:fld>
            <a:endParaRPr lang="en-IE"/>
          </a:p>
        </p:txBody>
      </p:sp>
    </p:spTree>
    <p:extLst>
      <p:ext uri="{BB962C8B-B14F-4D97-AF65-F5344CB8AC3E}">
        <p14:creationId xmlns:p14="http://schemas.microsoft.com/office/powerpoint/2010/main" val="23805240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44</a:t>
            </a:fld>
            <a:endParaRPr lang="en-IE"/>
          </a:p>
        </p:txBody>
      </p:sp>
    </p:spTree>
    <p:extLst>
      <p:ext uri="{BB962C8B-B14F-4D97-AF65-F5344CB8AC3E}">
        <p14:creationId xmlns:p14="http://schemas.microsoft.com/office/powerpoint/2010/main" val="16439754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45</a:t>
            </a:fld>
            <a:endParaRPr lang="en-IE"/>
          </a:p>
        </p:txBody>
      </p:sp>
    </p:spTree>
    <p:extLst>
      <p:ext uri="{BB962C8B-B14F-4D97-AF65-F5344CB8AC3E}">
        <p14:creationId xmlns:p14="http://schemas.microsoft.com/office/powerpoint/2010/main" val="26883494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46</a:t>
            </a:fld>
            <a:endParaRPr lang="en-IE"/>
          </a:p>
        </p:txBody>
      </p:sp>
    </p:spTree>
    <p:extLst>
      <p:ext uri="{BB962C8B-B14F-4D97-AF65-F5344CB8AC3E}">
        <p14:creationId xmlns:p14="http://schemas.microsoft.com/office/powerpoint/2010/main" val="39699632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47</a:t>
            </a:fld>
            <a:endParaRPr lang="en-IE"/>
          </a:p>
        </p:txBody>
      </p:sp>
    </p:spTree>
    <p:extLst>
      <p:ext uri="{BB962C8B-B14F-4D97-AF65-F5344CB8AC3E}">
        <p14:creationId xmlns:p14="http://schemas.microsoft.com/office/powerpoint/2010/main" val="15018665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48</a:t>
            </a:fld>
            <a:endParaRPr lang="en-IE"/>
          </a:p>
        </p:txBody>
      </p:sp>
    </p:spTree>
    <p:extLst>
      <p:ext uri="{BB962C8B-B14F-4D97-AF65-F5344CB8AC3E}">
        <p14:creationId xmlns:p14="http://schemas.microsoft.com/office/powerpoint/2010/main" val="39037566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49</a:t>
            </a:fld>
            <a:endParaRPr lang="en-IE"/>
          </a:p>
        </p:txBody>
      </p:sp>
    </p:spTree>
    <p:extLst>
      <p:ext uri="{BB962C8B-B14F-4D97-AF65-F5344CB8AC3E}">
        <p14:creationId xmlns:p14="http://schemas.microsoft.com/office/powerpoint/2010/main" val="36426380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50</a:t>
            </a:fld>
            <a:endParaRPr lang="en-IE"/>
          </a:p>
        </p:txBody>
      </p:sp>
    </p:spTree>
    <p:extLst>
      <p:ext uri="{BB962C8B-B14F-4D97-AF65-F5344CB8AC3E}">
        <p14:creationId xmlns:p14="http://schemas.microsoft.com/office/powerpoint/2010/main" val="42445946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3C0CA4E-99A0-9246-B2B3-6818F5E5FA09}" type="slidenum">
              <a:rPr lang="en-IE" smtClean="0"/>
              <a:t>51</a:t>
            </a:fld>
            <a:endParaRPr lang="en-IE"/>
          </a:p>
        </p:txBody>
      </p:sp>
    </p:spTree>
    <p:extLst>
      <p:ext uri="{BB962C8B-B14F-4D97-AF65-F5344CB8AC3E}">
        <p14:creationId xmlns:p14="http://schemas.microsoft.com/office/powerpoint/2010/main" val="41433191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73C0CA4E-99A0-9246-B2B3-6818F5E5FA09}" type="slidenum">
              <a:rPr lang="en-IE" smtClean="0"/>
              <a:t>52</a:t>
            </a:fld>
            <a:endParaRPr lang="en-IE"/>
          </a:p>
        </p:txBody>
      </p:sp>
    </p:spTree>
    <p:extLst>
      <p:ext uri="{BB962C8B-B14F-4D97-AF65-F5344CB8AC3E}">
        <p14:creationId xmlns:p14="http://schemas.microsoft.com/office/powerpoint/2010/main" val="1698376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73C0CA4E-99A0-9246-B2B3-6818F5E5FA09}" type="slidenum">
              <a:rPr lang="en-IE" smtClean="0"/>
              <a:t>53</a:t>
            </a:fld>
            <a:endParaRPr lang="en-IE"/>
          </a:p>
        </p:txBody>
      </p:sp>
    </p:spTree>
    <p:extLst>
      <p:ext uri="{BB962C8B-B14F-4D97-AF65-F5344CB8AC3E}">
        <p14:creationId xmlns:p14="http://schemas.microsoft.com/office/powerpoint/2010/main" val="3728646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2545B-62B8-9BE3-1E56-CCF6D7BA611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E"/>
          </a:p>
        </p:txBody>
      </p:sp>
      <p:sp>
        <p:nvSpPr>
          <p:cNvPr id="3" name="Subtitle 2">
            <a:extLst>
              <a:ext uri="{FF2B5EF4-FFF2-40B4-BE49-F238E27FC236}">
                <a16:creationId xmlns:a16="http://schemas.microsoft.com/office/drawing/2014/main" id="{10D26ACC-BD3C-7441-62F6-DA8151C2E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E"/>
          </a:p>
        </p:txBody>
      </p:sp>
      <p:sp>
        <p:nvSpPr>
          <p:cNvPr id="4" name="Date Placeholder 3">
            <a:extLst>
              <a:ext uri="{FF2B5EF4-FFF2-40B4-BE49-F238E27FC236}">
                <a16:creationId xmlns:a16="http://schemas.microsoft.com/office/drawing/2014/main" id="{D7A1B881-5B56-8708-18FB-27C5C809AB29}"/>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5" name="Footer Placeholder 4">
            <a:extLst>
              <a:ext uri="{FF2B5EF4-FFF2-40B4-BE49-F238E27FC236}">
                <a16:creationId xmlns:a16="http://schemas.microsoft.com/office/drawing/2014/main" id="{F7FF1BD5-0239-CB96-0AC7-F2DD1A3C80E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C3645FFE-E4A6-311E-61FA-809D0F39BFEF}"/>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3854527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D9FA-5BE9-B3B8-C463-79DDE7A33420}"/>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78B14D4B-4B66-40B0-8AFA-2B5CCDDB2EC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7A00C251-2C32-E984-BF7D-232BCBCB5B45}"/>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5" name="Footer Placeholder 4">
            <a:extLst>
              <a:ext uri="{FF2B5EF4-FFF2-40B4-BE49-F238E27FC236}">
                <a16:creationId xmlns:a16="http://schemas.microsoft.com/office/drawing/2014/main" id="{4B072214-2B52-B9C5-0EBC-4B84FA7F24E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FEC147D6-1092-5C4C-7548-D0FB446314BC}"/>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1017494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71029-C781-1D4C-12B2-7D13367D2A7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E"/>
          </a:p>
        </p:txBody>
      </p:sp>
      <p:sp>
        <p:nvSpPr>
          <p:cNvPr id="3" name="Text Placeholder 2">
            <a:extLst>
              <a:ext uri="{FF2B5EF4-FFF2-40B4-BE49-F238E27FC236}">
                <a16:creationId xmlns:a16="http://schemas.microsoft.com/office/drawing/2014/main" id="{A02252C7-EE07-1C67-946C-33B9A37DBA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36F6763-4FD8-DDB5-9410-61584F58EC84}"/>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5" name="Footer Placeholder 4">
            <a:extLst>
              <a:ext uri="{FF2B5EF4-FFF2-40B4-BE49-F238E27FC236}">
                <a16:creationId xmlns:a16="http://schemas.microsoft.com/office/drawing/2014/main" id="{0B5D4095-F93B-9248-2982-E9302544BA8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17C93BF-A2D7-C9AD-E3E1-A5ED6A27C18F}"/>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1328312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57A1E-DEA4-BFD4-87A2-010642F18E44}"/>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149B3516-557E-113D-D315-DBF2CD7EC88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Content Placeholder 3">
            <a:extLst>
              <a:ext uri="{FF2B5EF4-FFF2-40B4-BE49-F238E27FC236}">
                <a16:creationId xmlns:a16="http://schemas.microsoft.com/office/drawing/2014/main" id="{83D19AA7-4382-85CB-EEBE-D3D3544A296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5" name="Date Placeholder 4">
            <a:extLst>
              <a:ext uri="{FF2B5EF4-FFF2-40B4-BE49-F238E27FC236}">
                <a16:creationId xmlns:a16="http://schemas.microsoft.com/office/drawing/2014/main" id="{F3B9AFFF-40A6-4E57-8BDF-677429CF97EF}"/>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6" name="Footer Placeholder 5">
            <a:extLst>
              <a:ext uri="{FF2B5EF4-FFF2-40B4-BE49-F238E27FC236}">
                <a16:creationId xmlns:a16="http://schemas.microsoft.com/office/drawing/2014/main" id="{4CD1A747-6815-865B-A569-A05FB3FF3AB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296358F-8F3D-FFA5-BFFA-9F1FDA8F7D4B}"/>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177086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4CD3E-5ECC-1F28-F71A-C691F95380A3}"/>
              </a:ext>
            </a:extLst>
          </p:cNvPr>
          <p:cNvSpPr>
            <a:spLocks noGrp="1"/>
          </p:cNvSpPr>
          <p:nvPr>
            <p:ph type="title"/>
          </p:nvPr>
        </p:nvSpPr>
        <p:spPr>
          <a:xfrm>
            <a:off x="839788" y="365125"/>
            <a:ext cx="10515600" cy="1325563"/>
          </a:xfrm>
        </p:spPr>
        <p:txBody>
          <a:bodyPr/>
          <a:lstStyle/>
          <a:p>
            <a:r>
              <a:rPr lang="en-GB"/>
              <a:t>Click to edit Master title style</a:t>
            </a:r>
            <a:endParaRPr lang="en-IE"/>
          </a:p>
        </p:txBody>
      </p:sp>
      <p:sp>
        <p:nvSpPr>
          <p:cNvPr id="3" name="Text Placeholder 2">
            <a:extLst>
              <a:ext uri="{FF2B5EF4-FFF2-40B4-BE49-F238E27FC236}">
                <a16:creationId xmlns:a16="http://schemas.microsoft.com/office/drawing/2014/main" id="{1754E2E9-A82D-C4AC-A4BF-936B46F798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7413D5E-8EE7-B84C-5D67-F54D78FDBDA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5" name="Text Placeholder 4">
            <a:extLst>
              <a:ext uri="{FF2B5EF4-FFF2-40B4-BE49-F238E27FC236}">
                <a16:creationId xmlns:a16="http://schemas.microsoft.com/office/drawing/2014/main" id="{475516C2-B445-0A5B-B290-51F6AF6D94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CED7FEF-F47A-A9A7-47DA-D6D078211AA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7" name="Date Placeholder 6">
            <a:extLst>
              <a:ext uri="{FF2B5EF4-FFF2-40B4-BE49-F238E27FC236}">
                <a16:creationId xmlns:a16="http://schemas.microsoft.com/office/drawing/2014/main" id="{4CE28B79-EB91-F64A-E6B3-169D32A84A80}"/>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8" name="Footer Placeholder 7">
            <a:extLst>
              <a:ext uri="{FF2B5EF4-FFF2-40B4-BE49-F238E27FC236}">
                <a16:creationId xmlns:a16="http://schemas.microsoft.com/office/drawing/2014/main" id="{A8B89E88-2EAB-94B5-AF8F-C64294CECE41}"/>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09F4219A-7002-2746-7E02-749711337A64}"/>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1249940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F07A0-9EEE-CBA0-2662-180269C90A9A}"/>
              </a:ext>
            </a:extLst>
          </p:cNvPr>
          <p:cNvSpPr>
            <a:spLocks noGrp="1"/>
          </p:cNvSpPr>
          <p:nvPr>
            <p:ph type="title"/>
          </p:nvPr>
        </p:nvSpPr>
        <p:spPr/>
        <p:txBody>
          <a:bodyPr/>
          <a:lstStyle/>
          <a:p>
            <a:r>
              <a:rPr lang="en-GB"/>
              <a:t>Click to edit Master title style</a:t>
            </a:r>
            <a:endParaRPr lang="en-IE"/>
          </a:p>
        </p:txBody>
      </p:sp>
      <p:sp>
        <p:nvSpPr>
          <p:cNvPr id="3" name="Date Placeholder 2">
            <a:extLst>
              <a:ext uri="{FF2B5EF4-FFF2-40B4-BE49-F238E27FC236}">
                <a16:creationId xmlns:a16="http://schemas.microsoft.com/office/drawing/2014/main" id="{48B3E8AC-1986-A16D-770D-1E30AFB11437}"/>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4" name="Footer Placeholder 3">
            <a:extLst>
              <a:ext uri="{FF2B5EF4-FFF2-40B4-BE49-F238E27FC236}">
                <a16:creationId xmlns:a16="http://schemas.microsoft.com/office/drawing/2014/main" id="{25C723A7-ABF7-4009-6FFD-CC595169E5F5}"/>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9A447850-ED33-AADD-BB72-ADB3986B43D6}"/>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400395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65972C-2407-A035-8B13-639763C792EF}"/>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3" name="Footer Placeholder 2">
            <a:extLst>
              <a:ext uri="{FF2B5EF4-FFF2-40B4-BE49-F238E27FC236}">
                <a16:creationId xmlns:a16="http://schemas.microsoft.com/office/drawing/2014/main" id="{5FFBDE8B-90C8-E464-EE42-AD168DF5BDC1}"/>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216CE4AC-D897-DCF3-2575-8B3718914016}"/>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381699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3646C-A905-62A6-007C-A84C56EC495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E"/>
          </a:p>
        </p:txBody>
      </p:sp>
      <p:sp>
        <p:nvSpPr>
          <p:cNvPr id="3" name="Content Placeholder 2">
            <a:extLst>
              <a:ext uri="{FF2B5EF4-FFF2-40B4-BE49-F238E27FC236}">
                <a16:creationId xmlns:a16="http://schemas.microsoft.com/office/drawing/2014/main" id="{677D65A5-4B04-384B-7A41-693E17F58F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Text Placeholder 3">
            <a:extLst>
              <a:ext uri="{FF2B5EF4-FFF2-40B4-BE49-F238E27FC236}">
                <a16:creationId xmlns:a16="http://schemas.microsoft.com/office/drawing/2014/main" id="{9D082296-2B1E-0EAC-4685-47AFBEC52B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912B33A-EC8D-0BF2-2DC7-6AF013B9751F}"/>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6" name="Footer Placeholder 5">
            <a:extLst>
              <a:ext uri="{FF2B5EF4-FFF2-40B4-BE49-F238E27FC236}">
                <a16:creationId xmlns:a16="http://schemas.microsoft.com/office/drawing/2014/main" id="{4EA83B47-16BA-2F4F-5454-03D710E45530}"/>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05BAF37-F2D4-EDF6-7843-5D5D099DCAC3}"/>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651073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F79D0-2B46-0573-4D0A-6BA18E82E5C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E"/>
          </a:p>
        </p:txBody>
      </p:sp>
      <p:sp>
        <p:nvSpPr>
          <p:cNvPr id="3" name="Picture Placeholder 2">
            <a:extLst>
              <a:ext uri="{FF2B5EF4-FFF2-40B4-BE49-F238E27FC236}">
                <a16:creationId xmlns:a16="http://schemas.microsoft.com/office/drawing/2014/main" id="{DB0E3276-A4AD-B469-2628-C42845FBA7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8B1719E2-042D-1928-719D-A89BCF45F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908B1D-2C4D-152C-B05C-5455F921C4B6}"/>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6" name="Footer Placeholder 5">
            <a:extLst>
              <a:ext uri="{FF2B5EF4-FFF2-40B4-BE49-F238E27FC236}">
                <a16:creationId xmlns:a16="http://schemas.microsoft.com/office/drawing/2014/main" id="{CBF73F4D-966F-F4AE-137B-8C4B48FD4872}"/>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0BD6733A-F826-E461-BB93-3247362C0170}"/>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2158679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9375C-EAA1-FBAD-08B3-A8D82F629387}"/>
              </a:ext>
            </a:extLst>
          </p:cNvPr>
          <p:cNvSpPr>
            <a:spLocks noGrp="1"/>
          </p:cNvSpPr>
          <p:nvPr>
            <p:ph type="title"/>
          </p:nvPr>
        </p:nvSpPr>
        <p:spPr/>
        <p:txBody>
          <a:bodyPr/>
          <a:lstStyle/>
          <a:p>
            <a:r>
              <a:rPr lang="en-GB"/>
              <a:t>Click to edit Master title style</a:t>
            </a:r>
            <a:endParaRPr lang="en-IE"/>
          </a:p>
        </p:txBody>
      </p:sp>
      <p:sp>
        <p:nvSpPr>
          <p:cNvPr id="3" name="Vertical Text Placeholder 2">
            <a:extLst>
              <a:ext uri="{FF2B5EF4-FFF2-40B4-BE49-F238E27FC236}">
                <a16:creationId xmlns:a16="http://schemas.microsoft.com/office/drawing/2014/main" id="{380D4D7F-E9E6-FFF6-474E-128B7E56559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73BE3DEE-8418-1100-8D3E-6C5FD516638A}"/>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5" name="Footer Placeholder 4">
            <a:extLst>
              <a:ext uri="{FF2B5EF4-FFF2-40B4-BE49-F238E27FC236}">
                <a16:creationId xmlns:a16="http://schemas.microsoft.com/office/drawing/2014/main" id="{53D79A52-7776-C8ED-D745-2D0977D0553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18B23BDF-6016-A315-ECD5-1B13A19A263F}"/>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750141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57EE1D-5A46-C35A-5827-56BB14E4B15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E"/>
          </a:p>
        </p:txBody>
      </p:sp>
      <p:sp>
        <p:nvSpPr>
          <p:cNvPr id="3" name="Vertical Text Placeholder 2">
            <a:extLst>
              <a:ext uri="{FF2B5EF4-FFF2-40B4-BE49-F238E27FC236}">
                <a16:creationId xmlns:a16="http://schemas.microsoft.com/office/drawing/2014/main" id="{82175A1D-5F16-A754-F976-0FBBCF9123C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D2F3059A-6A5A-A39E-A7A8-D54591657F5C}"/>
              </a:ext>
            </a:extLst>
          </p:cNvPr>
          <p:cNvSpPr>
            <a:spLocks noGrp="1"/>
          </p:cNvSpPr>
          <p:nvPr>
            <p:ph type="dt" sz="half" idx="10"/>
          </p:nvPr>
        </p:nvSpPr>
        <p:spPr/>
        <p:txBody>
          <a:bodyPr/>
          <a:lstStyle/>
          <a:p>
            <a:fld id="{41964956-2551-7C44-BF5B-BB4583E554D4}" type="datetimeFigureOut">
              <a:rPr lang="en-IE" smtClean="0"/>
              <a:t>19/11/2025</a:t>
            </a:fld>
            <a:endParaRPr lang="en-IE"/>
          </a:p>
        </p:txBody>
      </p:sp>
      <p:sp>
        <p:nvSpPr>
          <p:cNvPr id="5" name="Footer Placeholder 4">
            <a:extLst>
              <a:ext uri="{FF2B5EF4-FFF2-40B4-BE49-F238E27FC236}">
                <a16:creationId xmlns:a16="http://schemas.microsoft.com/office/drawing/2014/main" id="{C09E485E-F181-A580-6152-DFCF648F3CB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1C25160-DCB4-4AB1-2EEA-F6355978DF01}"/>
              </a:ext>
            </a:extLst>
          </p:cNvPr>
          <p:cNvSpPr>
            <a:spLocks noGrp="1"/>
          </p:cNvSpPr>
          <p:nvPr>
            <p:ph type="sldNum" sz="quarter" idx="12"/>
          </p:nvPr>
        </p:nvSpPr>
        <p:spPr/>
        <p:txBody>
          <a:bodyPr/>
          <a:lstStyle/>
          <a:p>
            <a:fld id="{73C1935E-6FDB-AE47-874F-7B0023AD75B4}" type="slidenum">
              <a:rPr lang="en-IE" smtClean="0"/>
              <a:t>‹#›</a:t>
            </a:fld>
            <a:endParaRPr lang="en-IE"/>
          </a:p>
        </p:txBody>
      </p:sp>
    </p:spTree>
    <p:extLst>
      <p:ext uri="{BB962C8B-B14F-4D97-AF65-F5344CB8AC3E}">
        <p14:creationId xmlns:p14="http://schemas.microsoft.com/office/powerpoint/2010/main" val="2140731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AB2B3A-F158-9DB5-F242-11175D10D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E"/>
          </a:p>
        </p:txBody>
      </p:sp>
      <p:sp>
        <p:nvSpPr>
          <p:cNvPr id="3" name="Text Placeholder 2">
            <a:extLst>
              <a:ext uri="{FF2B5EF4-FFF2-40B4-BE49-F238E27FC236}">
                <a16:creationId xmlns:a16="http://schemas.microsoft.com/office/drawing/2014/main" id="{284A10DA-6DAE-DCD2-79E1-3B6F3CA221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9AAE6ECA-87B6-C92B-BEA0-3970E5CFD4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964956-2551-7C44-BF5B-BB4583E554D4}" type="datetimeFigureOut">
              <a:rPr lang="en-IE" smtClean="0"/>
              <a:t>19/11/2025</a:t>
            </a:fld>
            <a:endParaRPr lang="en-IE"/>
          </a:p>
        </p:txBody>
      </p:sp>
      <p:sp>
        <p:nvSpPr>
          <p:cNvPr id="5" name="Footer Placeholder 4">
            <a:extLst>
              <a:ext uri="{FF2B5EF4-FFF2-40B4-BE49-F238E27FC236}">
                <a16:creationId xmlns:a16="http://schemas.microsoft.com/office/drawing/2014/main" id="{52A16D34-A969-9F60-BEAF-E4CD48B715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F9A31EF6-F9BF-6EC3-1556-7AF79C25C8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C1935E-6FDB-AE47-874F-7B0023AD75B4}" type="slidenum">
              <a:rPr lang="en-IE" smtClean="0"/>
              <a:t>‹#›</a:t>
            </a:fld>
            <a:endParaRPr lang="en-IE"/>
          </a:p>
        </p:txBody>
      </p:sp>
    </p:spTree>
    <p:extLst>
      <p:ext uri="{BB962C8B-B14F-4D97-AF65-F5344CB8AC3E}">
        <p14:creationId xmlns:p14="http://schemas.microsoft.com/office/powerpoint/2010/main" val="1840130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enjoyalgorithms.com/blog/cohesion-and-coupling-in-oop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design-patterns-in-object-oriented-programming-oop/"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geeksforgeeks.org/dependency-injectiondi-design-pattern/"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9F188-308B-CE5D-318F-395EE8FD2B07}"/>
              </a:ext>
            </a:extLst>
          </p:cNvPr>
          <p:cNvSpPr>
            <a:spLocks noGrp="1"/>
          </p:cNvSpPr>
          <p:nvPr>
            <p:ph type="ctrTitle"/>
          </p:nvPr>
        </p:nvSpPr>
        <p:spPr/>
        <p:txBody>
          <a:bodyPr>
            <a:normAutofit fontScale="90000"/>
          </a:bodyPr>
          <a:lstStyle/>
          <a:p>
            <a:r>
              <a:rPr lang="en-IE" dirty="0"/>
              <a:t>DTAI H3013 </a:t>
            </a:r>
            <a:br>
              <a:rPr lang="en-IE" dirty="0"/>
            </a:br>
            <a:r>
              <a:rPr lang="en-IE" dirty="0"/>
              <a:t>Object Oriented </a:t>
            </a:r>
            <a:br>
              <a:rPr lang="en-IE" dirty="0"/>
            </a:br>
            <a:r>
              <a:rPr lang="en-IE" dirty="0"/>
              <a:t>Analysis and Design</a:t>
            </a:r>
          </a:p>
        </p:txBody>
      </p:sp>
      <p:sp>
        <p:nvSpPr>
          <p:cNvPr id="3" name="Subtitle 2">
            <a:extLst>
              <a:ext uri="{FF2B5EF4-FFF2-40B4-BE49-F238E27FC236}">
                <a16:creationId xmlns:a16="http://schemas.microsoft.com/office/drawing/2014/main" id="{84455B34-2F0C-72A8-48BC-4545E55148C2}"/>
              </a:ext>
            </a:extLst>
          </p:cNvPr>
          <p:cNvSpPr>
            <a:spLocks noGrp="1"/>
          </p:cNvSpPr>
          <p:nvPr>
            <p:ph type="subTitle" idx="1"/>
          </p:nvPr>
        </p:nvSpPr>
        <p:spPr/>
        <p:txBody>
          <a:bodyPr/>
          <a:lstStyle/>
          <a:p>
            <a:r>
              <a:rPr lang="en-IE" dirty="0"/>
              <a:t>Mark Deegan</a:t>
            </a:r>
          </a:p>
        </p:txBody>
      </p:sp>
    </p:spTree>
    <p:extLst>
      <p:ext uri="{BB962C8B-B14F-4D97-AF65-F5344CB8AC3E}">
        <p14:creationId xmlns:p14="http://schemas.microsoft.com/office/powerpoint/2010/main" val="602231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B1788-B4D2-63B0-F45E-66FD2EB02DD7}"/>
              </a:ext>
            </a:extLst>
          </p:cNvPr>
          <p:cNvSpPr>
            <a:spLocks noGrp="1"/>
          </p:cNvSpPr>
          <p:nvPr>
            <p:ph type="title"/>
          </p:nvPr>
        </p:nvSpPr>
        <p:spPr/>
        <p:txBody>
          <a:bodyPr/>
          <a:lstStyle/>
          <a:p>
            <a:r>
              <a:rPr lang="en-IE" dirty="0"/>
              <a:t>Assessment</a:t>
            </a:r>
          </a:p>
        </p:txBody>
      </p:sp>
      <p:sp>
        <p:nvSpPr>
          <p:cNvPr id="3" name="Content Placeholder 2">
            <a:extLst>
              <a:ext uri="{FF2B5EF4-FFF2-40B4-BE49-F238E27FC236}">
                <a16:creationId xmlns:a16="http://schemas.microsoft.com/office/drawing/2014/main" id="{6350DCF6-1961-D4BF-F4DF-3E07A322DCBE}"/>
              </a:ext>
            </a:extLst>
          </p:cNvPr>
          <p:cNvSpPr>
            <a:spLocks noGrp="1"/>
          </p:cNvSpPr>
          <p:nvPr>
            <p:ph idx="1"/>
          </p:nvPr>
        </p:nvSpPr>
        <p:spPr/>
        <p:txBody>
          <a:bodyPr/>
          <a:lstStyle/>
          <a:p>
            <a:r>
              <a:rPr lang="en-IE" dirty="0"/>
              <a:t>Practical/Skills Evaluation</a:t>
            </a:r>
          </a:p>
        </p:txBody>
      </p:sp>
    </p:spTree>
    <p:extLst>
      <p:ext uri="{BB962C8B-B14F-4D97-AF65-F5344CB8AC3E}">
        <p14:creationId xmlns:p14="http://schemas.microsoft.com/office/powerpoint/2010/main" val="4102312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608BEAB-305A-4124-7B91-365FC9416978}"/>
              </a:ext>
            </a:extLst>
          </p:cNvPr>
          <p:cNvGraphicFramePr>
            <a:graphicFrameLocks noGrp="1"/>
          </p:cNvGraphicFramePr>
          <p:nvPr>
            <p:ph idx="1"/>
            <p:extLst>
              <p:ext uri="{D42A27DB-BD31-4B8C-83A1-F6EECF244321}">
                <p14:modId xmlns:p14="http://schemas.microsoft.com/office/powerpoint/2010/main" val="3836770086"/>
              </p:ext>
            </p:extLst>
          </p:nvPr>
        </p:nvGraphicFramePr>
        <p:xfrm>
          <a:off x="0" y="-1"/>
          <a:ext cx="12192001" cy="6858002"/>
        </p:xfrm>
        <a:graphic>
          <a:graphicData uri="http://schemas.openxmlformats.org/drawingml/2006/table">
            <a:tbl>
              <a:tblPr firstRow="1" bandRow="1">
                <a:tableStyleId>{5C22544A-7EE6-4342-B048-85BDC9FD1C3A}</a:tableStyleId>
              </a:tblPr>
              <a:tblGrid>
                <a:gridCol w="2399083">
                  <a:extLst>
                    <a:ext uri="{9D8B030D-6E8A-4147-A177-3AD203B41FA5}">
                      <a16:colId xmlns:a16="http://schemas.microsoft.com/office/drawing/2014/main" val="1819265477"/>
                    </a:ext>
                  </a:extLst>
                </a:gridCol>
                <a:gridCol w="3696918">
                  <a:extLst>
                    <a:ext uri="{9D8B030D-6E8A-4147-A177-3AD203B41FA5}">
                      <a16:colId xmlns:a16="http://schemas.microsoft.com/office/drawing/2014/main" val="3846567773"/>
                    </a:ext>
                  </a:extLst>
                </a:gridCol>
                <a:gridCol w="1527470">
                  <a:extLst>
                    <a:ext uri="{9D8B030D-6E8A-4147-A177-3AD203B41FA5}">
                      <a16:colId xmlns:a16="http://schemas.microsoft.com/office/drawing/2014/main" val="4035987010"/>
                    </a:ext>
                  </a:extLst>
                </a:gridCol>
                <a:gridCol w="4568530">
                  <a:extLst>
                    <a:ext uri="{9D8B030D-6E8A-4147-A177-3AD203B41FA5}">
                      <a16:colId xmlns:a16="http://schemas.microsoft.com/office/drawing/2014/main" val="159197011"/>
                    </a:ext>
                  </a:extLst>
                </a:gridCol>
              </a:tblGrid>
              <a:tr h="601579">
                <a:tc>
                  <a:txBody>
                    <a:bodyPr/>
                    <a:lstStyle/>
                    <a:p>
                      <a:r>
                        <a:rPr lang="en-IE" sz="2400" dirty="0"/>
                        <a:t>Assessment</a:t>
                      </a:r>
                    </a:p>
                  </a:txBody>
                  <a:tcPr/>
                </a:tc>
                <a:tc>
                  <a:txBody>
                    <a:bodyPr/>
                    <a:lstStyle/>
                    <a:p>
                      <a:endParaRPr lang="en-IE" sz="2400" dirty="0"/>
                    </a:p>
                  </a:txBody>
                  <a:tcPr/>
                </a:tc>
                <a:tc>
                  <a:txBody>
                    <a:bodyPr/>
                    <a:lstStyle/>
                    <a:p>
                      <a:endParaRPr lang="en-IE" sz="2400" dirty="0"/>
                    </a:p>
                  </a:txBody>
                  <a:tcPr/>
                </a:tc>
                <a:tc>
                  <a:txBody>
                    <a:bodyPr/>
                    <a:lstStyle/>
                    <a:p>
                      <a:endParaRPr lang="en-IE" sz="2400"/>
                    </a:p>
                  </a:txBody>
                  <a:tcPr/>
                </a:tc>
                <a:extLst>
                  <a:ext uri="{0D108BD9-81ED-4DB2-BD59-A6C34878D82A}">
                    <a16:rowId xmlns:a16="http://schemas.microsoft.com/office/drawing/2014/main" val="2926180232"/>
                  </a:ext>
                </a:extLst>
              </a:tr>
              <a:tr h="2045369">
                <a:tc>
                  <a:txBody>
                    <a:bodyPr/>
                    <a:lstStyle/>
                    <a:p>
                      <a:r>
                        <a:rPr lang="en-IE" sz="2400" dirty="0"/>
                        <a:t>Practical Skills Evaluation</a:t>
                      </a:r>
                    </a:p>
                  </a:txBody>
                  <a:tcPr/>
                </a:tc>
                <a:tc>
                  <a:txBody>
                    <a:bodyPr/>
                    <a:lstStyle/>
                    <a:p>
                      <a:r>
                        <a:rPr lang="en-IE" sz="2400" dirty="0"/>
                        <a:t>A series of tasks that will help develop OO Analysis &amp; Design Skills</a:t>
                      </a:r>
                    </a:p>
                  </a:txBody>
                  <a:tcPr/>
                </a:tc>
                <a:tc>
                  <a:txBody>
                    <a:bodyPr/>
                    <a:lstStyle/>
                    <a:p>
                      <a:r>
                        <a:rPr lang="en-IE" sz="2400" dirty="0"/>
                        <a:t>25%</a:t>
                      </a:r>
                    </a:p>
                  </a:txBody>
                  <a:tcPr/>
                </a:tc>
                <a:tc>
                  <a:txBody>
                    <a:bodyPr/>
                    <a:lstStyle/>
                    <a:p>
                      <a:r>
                        <a:rPr lang="en-IE" sz="2400" dirty="0"/>
                        <a:t>Development of various C++/Java exercises</a:t>
                      </a:r>
                      <a:r>
                        <a:rPr lang="en-IE" sz="2400" baseline="0" dirty="0"/>
                        <a:t> I pursuit of better understanding </a:t>
                      </a:r>
                      <a:r>
                        <a:rPr lang="en-IE" sz="2400" baseline="0" dirty="0" err="1"/>
                        <a:t>OOAaD</a:t>
                      </a:r>
                      <a:endParaRPr lang="en-IE" sz="2400" dirty="0"/>
                    </a:p>
                  </a:txBody>
                  <a:tcPr/>
                </a:tc>
                <a:extLst>
                  <a:ext uri="{0D108BD9-81ED-4DB2-BD59-A6C34878D82A}">
                    <a16:rowId xmlns:a16="http://schemas.microsoft.com/office/drawing/2014/main" val="3418872454"/>
                  </a:ext>
                </a:extLst>
              </a:tr>
              <a:tr h="1564106">
                <a:tc>
                  <a:txBody>
                    <a:bodyPr/>
                    <a:lstStyle/>
                    <a:p>
                      <a:r>
                        <a:rPr lang="en-IE" sz="2400" dirty="0"/>
                        <a:t>Case Study</a:t>
                      </a:r>
                    </a:p>
                  </a:txBody>
                  <a:tcPr/>
                </a:tc>
                <a:tc>
                  <a:txBody>
                    <a:bodyPr/>
                    <a:lstStyle/>
                    <a:p>
                      <a:r>
                        <a:rPr lang="en-IE" sz="2400" dirty="0"/>
                        <a:t>ACM/IEEE</a:t>
                      </a:r>
                      <a:r>
                        <a:rPr lang="en-IE" sz="2400" baseline="0" dirty="0"/>
                        <a:t> Code of Ethics</a:t>
                      </a:r>
                      <a:endParaRPr lang="en-IE" sz="2400" dirty="0"/>
                    </a:p>
                  </a:txBody>
                  <a:tcPr/>
                </a:tc>
                <a:tc>
                  <a:txBody>
                    <a:bodyPr/>
                    <a:lstStyle/>
                    <a:p>
                      <a:r>
                        <a:rPr lang="en-IE" sz="2400" dirty="0"/>
                        <a:t>10%</a:t>
                      </a:r>
                    </a:p>
                  </a:txBody>
                  <a:tcPr/>
                </a:tc>
                <a:tc>
                  <a:txBody>
                    <a:bodyPr/>
                    <a:lstStyle/>
                    <a:p>
                      <a:r>
                        <a:rPr lang="en-IE" sz="2400" dirty="0"/>
                        <a:t>Essay on the implications</a:t>
                      </a:r>
                      <a:r>
                        <a:rPr lang="en-IE" sz="2400" baseline="0" dirty="0"/>
                        <a:t> for software developers of the Code of Ethics</a:t>
                      </a:r>
                      <a:endParaRPr lang="en-IE" sz="2400" dirty="0"/>
                    </a:p>
                  </a:txBody>
                  <a:tcPr/>
                </a:tc>
                <a:extLst>
                  <a:ext uri="{0D108BD9-81ED-4DB2-BD59-A6C34878D82A}">
                    <a16:rowId xmlns:a16="http://schemas.microsoft.com/office/drawing/2014/main" val="316817269"/>
                  </a:ext>
                </a:extLst>
              </a:tr>
              <a:tr h="1082843">
                <a:tc>
                  <a:txBody>
                    <a:bodyPr/>
                    <a:lstStyle/>
                    <a:p>
                      <a:r>
                        <a:rPr lang="en-IE" sz="2400" dirty="0"/>
                        <a:t>Journal</a:t>
                      </a:r>
                    </a:p>
                  </a:txBody>
                  <a:tcPr/>
                </a:tc>
                <a:tc>
                  <a:txBody>
                    <a:bodyPr/>
                    <a:lstStyle/>
                    <a:p>
                      <a:endParaRPr lang="en-IE" sz="2400" dirty="0"/>
                    </a:p>
                  </a:txBody>
                  <a:tcPr/>
                </a:tc>
                <a:tc>
                  <a:txBody>
                    <a:bodyPr/>
                    <a:lstStyle/>
                    <a:p>
                      <a:r>
                        <a:rPr lang="en-IE" sz="2400" dirty="0"/>
                        <a:t>15%</a:t>
                      </a:r>
                    </a:p>
                  </a:txBody>
                  <a:tcPr/>
                </a:tc>
                <a:tc>
                  <a:txBody>
                    <a:bodyPr/>
                    <a:lstStyle/>
                    <a:p>
                      <a:r>
                        <a:rPr lang="en-IE" sz="2400" dirty="0"/>
                        <a:t>GitHub readme and wiki contributions</a:t>
                      </a:r>
                    </a:p>
                  </a:txBody>
                  <a:tcPr/>
                </a:tc>
                <a:extLst>
                  <a:ext uri="{0D108BD9-81ED-4DB2-BD59-A6C34878D82A}">
                    <a16:rowId xmlns:a16="http://schemas.microsoft.com/office/drawing/2014/main" val="2003002884"/>
                  </a:ext>
                </a:extLst>
              </a:tr>
              <a:tr h="601579">
                <a:tc>
                  <a:txBody>
                    <a:bodyPr/>
                    <a:lstStyle/>
                    <a:p>
                      <a:r>
                        <a:rPr lang="en-IE" sz="2400" dirty="0"/>
                        <a:t>Project</a:t>
                      </a:r>
                    </a:p>
                  </a:txBody>
                  <a:tcPr/>
                </a:tc>
                <a:tc>
                  <a:txBody>
                    <a:bodyPr/>
                    <a:lstStyle/>
                    <a:p>
                      <a:r>
                        <a:rPr lang="en-IE" sz="2400" dirty="0"/>
                        <a:t>Individual Work</a:t>
                      </a:r>
                    </a:p>
                  </a:txBody>
                  <a:tcPr/>
                </a:tc>
                <a:tc>
                  <a:txBody>
                    <a:bodyPr/>
                    <a:lstStyle/>
                    <a:p>
                      <a:r>
                        <a:rPr lang="en-IE" sz="2400" dirty="0"/>
                        <a:t>20%</a:t>
                      </a:r>
                    </a:p>
                  </a:txBody>
                  <a:tcPr/>
                </a:tc>
                <a:tc rowSpan="2">
                  <a:txBody>
                    <a:bodyPr/>
                    <a:lstStyle/>
                    <a:p>
                      <a:r>
                        <a:rPr lang="en-IE" sz="2400" dirty="0"/>
                        <a:t>Development of examples that</a:t>
                      </a:r>
                      <a:r>
                        <a:rPr lang="en-IE" sz="2400" baseline="0" dirty="0"/>
                        <a:t> illustrate understanding of core </a:t>
                      </a:r>
                      <a:r>
                        <a:rPr lang="en-IE" sz="2400" baseline="0" dirty="0" err="1"/>
                        <a:t>OOAaD</a:t>
                      </a:r>
                      <a:r>
                        <a:rPr lang="en-IE" sz="2400" baseline="0" dirty="0"/>
                        <a:t> concepts</a:t>
                      </a:r>
                      <a:endParaRPr lang="en-IE" sz="2400" dirty="0"/>
                    </a:p>
                  </a:txBody>
                  <a:tcPr/>
                </a:tc>
                <a:extLst>
                  <a:ext uri="{0D108BD9-81ED-4DB2-BD59-A6C34878D82A}">
                    <a16:rowId xmlns:a16="http://schemas.microsoft.com/office/drawing/2014/main" val="1977053415"/>
                  </a:ext>
                </a:extLst>
              </a:tr>
              <a:tr h="962526">
                <a:tc>
                  <a:txBody>
                    <a:bodyPr/>
                    <a:lstStyle/>
                    <a:p>
                      <a:r>
                        <a:rPr lang="en-IE" sz="2400" dirty="0"/>
                        <a:t>Project </a:t>
                      </a:r>
                    </a:p>
                  </a:txBody>
                  <a:tcPr/>
                </a:tc>
                <a:tc>
                  <a:txBody>
                    <a:bodyPr/>
                    <a:lstStyle/>
                    <a:p>
                      <a:r>
                        <a:rPr lang="en-IE" sz="2400" dirty="0"/>
                        <a:t>Team Work</a:t>
                      </a:r>
                    </a:p>
                  </a:txBody>
                  <a:tcPr/>
                </a:tc>
                <a:tc>
                  <a:txBody>
                    <a:bodyPr/>
                    <a:lstStyle/>
                    <a:p>
                      <a:r>
                        <a:rPr lang="en-IE" sz="2400" dirty="0"/>
                        <a:t>30%</a:t>
                      </a:r>
                    </a:p>
                  </a:txBody>
                  <a:tcPr/>
                </a:tc>
                <a:tc vMerge="1">
                  <a:txBody>
                    <a:bodyPr/>
                    <a:lstStyle/>
                    <a:p>
                      <a:endParaRPr lang="en-IE" dirty="0"/>
                    </a:p>
                  </a:txBody>
                  <a:tcPr/>
                </a:tc>
                <a:extLst>
                  <a:ext uri="{0D108BD9-81ED-4DB2-BD59-A6C34878D82A}">
                    <a16:rowId xmlns:a16="http://schemas.microsoft.com/office/drawing/2014/main" val="2440466026"/>
                  </a:ext>
                </a:extLst>
              </a:tr>
            </a:tbl>
          </a:graphicData>
        </a:graphic>
      </p:graphicFrame>
    </p:spTree>
    <p:extLst>
      <p:ext uri="{BB962C8B-B14F-4D97-AF65-F5344CB8AC3E}">
        <p14:creationId xmlns:p14="http://schemas.microsoft.com/office/powerpoint/2010/main" val="660126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omputer screen with different colored screens&#10;&#10;Description automatically generated with medium confidence">
            <a:extLst>
              <a:ext uri="{FF2B5EF4-FFF2-40B4-BE49-F238E27FC236}">
                <a16:creationId xmlns:a16="http://schemas.microsoft.com/office/drawing/2014/main" id="{C1D6C6E3-AE5E-EA63-7EF5-0B031CC76550}"/>
              </a:ext>
            </a:extLst>
          </p:cNvPr>
          <p:cNvPicPr>
            <a:picLocks noGrp="1" noChangeAspect="1"/>
          </p:cNvPicPr>
          <p:nvPr>
            <p:ph idx="1"/>
          </p:nvPr>
        </p:nvPicPr>
        <p:blipFill>
          <a:blip r:embed="rId3"/>
          <a:stretch>
            <a:fillRect/>
          </a:stretch>
        </p:blipFill>
        <p:spPr>
          <a:xfrm>
            <a:off x="2049516" y="-45190"/>
            <a:ext cx="6926317" cy="6926317"/>
          </a:xfrm>
        </p:spPr>
      </p:pic>
      <p:sp>
        <p:nvSpPr>
          <p:cNvPr id="6" name="Title 5">
            <a:extLst>
              <a:ext uri="{FF2B5EF4-FFF2-40B4-BE49-F238E27FC236}">
                <a16:creationId xmlns:a16="http://schemas.microsoft.com/office/drawing/2014/main" id="{E6179220-E003-0D5D-1547-F0AB4AEF1CCB}"/>
              </a:ext>
            </a:extLst>
          </p:cNvPr>
          <p:cNvSpPr>
            <a:spLocks noGrp="1"/>
          </p:cNvSpPr>
          <p:nvPr>
            <p:ph type="title"/>
          </p:nvPr>
        </p:nvSpPr>
        <p:spPr/>
        <p:txBody>
          <a:bodyPr/>
          <a:lstStyle/>
          <a:p>
            <a:r>
              <a:rPr lang="en-IE" dirty="0">
                <a:noFill/>
              </a:rPr>
              <a:t>OOPs </a:t>
            </a:r>
            <a:r>
              <a:rPr lang="en-IE" dirty="0" err="1">
                <a:noFill/>
              </a:rPr>
              <a:t>Conepts</a:t>
            </a:r>
            <a:r>
              <a:rPr lang="en-IE" dirty="0">
                <a:noFill/>
              </a:rPr>
              <a:t> in Java</a:t>
            </a:r>
          </a:p>
        </p:txBody>
      </p:sp>
    </p:spTree>
    <p:extLst>
      <p:ext uri="{BB962C8B-B14F-4D97-AF65-F5344CB8AC3E}">
        <p14:creationId xmlns:p14="http://schemas.microsoft.com/office/powerpoint/2010/main" val="1828346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82FD6-306F-EB93-F0FF-16F810D0A7C8}"/>
              </a:ext>
            </a:extLst>
          </p:cNvPr>
          <p:cNvSpPr>
            <a:spLocks noGrp="1"/>
          </p:cNvSpPr>
          <p:nvPr>
            <p:ph type="title"/>
          </p:nvPr>
        </p:nvSpPr>
        <p:spPr/>
        <p:txBody>
          <a:bodyPr/>
          <a:lstStyle/>
          <a:p>
            <a:r>
              <a:rPr lang="en-IE" dirty="0" err="1"/>
              <a:t>OOAaD</a:t>
            </a:r>
            <a:r>
              <a:rPr lang="en-IE" dirty="0"/>
              <a:t> Concepts	</a:t>
            </a:r>
          </a:p>
        </p:txBody>
      </p:sp>
      <p:sp>
        <p:nvSpPr>
          <p:cNvPr id="3" name="Content Placeholder 2">
            <a:extLst>
              <a:ext uri="{FF2B5EF4-FFF2-40B4-BE49-F238E27FC236}">
                <a16:creationId xmlns:a16="http://schemas.microsoft.com/office/drawing/2014/main" id="{A84C1F61-BCBD-7BDE-35BC-1DD0016D0EE4}"/>
              </a:ext>
            </a:extLst>
          </p:cNvPr>
          <p:cNvSpPr>
            <a:spLocks noGrp="1"/>
          </p:cNvSpPr>
          <p:nvPr>
            <p:ph idx="1"/>
          </p:nvPr>
        </p:nvSpPr>
        <p:spPr/>
        <p:txBody>
          <a:bodyPr numCol="2">
            <a:normAutofit/>
          </a:bodyPr>
          <a:lstStyle/>
          <a:p>
            <a:r>
              <a:rPr lang="en-IE" sz="5400" dirty="0"/>
              <a:t>Abstraction</a:t>
            </a:r>
          </a:p>
          <a:p>
            <a:r>
              <a:rPr lang="en-IE" sz="5400" dirty="0"/>
              <a:t>Encapsulation</a:t>
            </a:r>
          </a:p>
          <a:p>
            <a:r>
              <a:rPr lang="en-IE" sz="5400" dirty="0"/>
              <a:t>Inheritance</a:t>
            </a:r>
          </a:p>
          <a:p>
            <a:r>
              <a:rPr lang="en-IE" sz="5400" dirty="0"/>
              <a:t>Polymorphism</a:t>
            </a:r>
          </a:p>
          <a:p>
            <a:r>
              <a:rPr lang="en-IE" sz="5400" dirty="0"/>
              <a:t>Association</a:t>
            </a:r>
          </a:p>
          <a:p>
            <a:r>
              <a:rPr lang="en-IE" sz="5400" dirty="0"/>
              <a:t>Aggregation</a:t>
            </a:r>
          </a:p>
          <a:p>
            <a:r>
              <a:rPr lang="en-IE" sz="5400" dirty="0"/>
              <a:t>Composition</a:t>
            </a:r>
          </a:p>
          <a:p>
            <a:r>
              <a:rPr lang="en-IE" sz="5400" dirty="0"/>
              <a:t>Coupling</a:t>
            </a:r>
          </a:p>
          <a:p>
            <a:r>
              <a:rPr lang="en-IE" sz="5400" dirty="0"/>
              <a:t>Cohesion	</a:t>
            </a:r>
          </a:p>
        </p:txBody>
      </p:sp>
    </p:spTree>
    <p:extLst>
      <p:ext uri="{BB962C8B-B14F-4D97-AF65-F5344CB8AC3E}">
        <p14:creationId xmlns:p14="http://schemas.microsoft.com/office/powerpoint/2010/main" val="42360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FA53C-4932-9BB0-8412-16EB801F9461}"/>
              </a:ext>
            </a:extLst>
          </p:cNvPr>
          <p:cNvSpPr>
            <a:spLocks noGrp="1"/>
          </p:cNvSpPr>
          <p:nvPr>
            <p:ph type="title"/>
          </p:nvPr>
        </p:nvSpPr>
        <p:spPr/>
        <p:txBody>
          <a:bodyPr/>
          <a:lstStyle/>
          <a:p>
            <a:r>
              <a:rPr lang="en-IE" dirty="0"/>
              <a:t>Abstraction</a:t>
            </a:r>
          </a:p>
        </p:txBody>
      </p:sp>
      <p:sp>
        <p:nvSpPr>
          <p:cNvPr id="3" name="Content Placeholder 2">
            <a:extLst>
              <a:ext uri="{FF2B5EF4-FFF2-40B4-BE49-F238E27FC236}">
                <a16:creationId xmlns:a16="http://schemas.microsoft.com/office/drawing/2014/main" id="{EBE006AC-97D8-CF34-34FF-F6EB50F6689A}"/>
              </a:ext>
            </a:extLst>
          </p:cNvPr>
          <p:cNvSpPr>
            <a:spLocks noGrp="1"/>
          </p:cNvSpPr>
          <p:nvPr>
            <p:ph idx="1"/>
          </p:nvPr>
        </p:nvSpPr>
        <p:spPr/>
        <p:txBody>
          <a:bodyPr>
            <a:normAutofit/>
          </a:bodyPr>
          <a:lstStyle/>
          <a:p>
            <a:r>
              <a:rPr lang="en-IE" sz="3600" dirty="0"/>
              <a:t>Handle complexity by hiding unnecessary details from the user</a:t>
            </a:r>
          </a:p>
          <a:p>
            <a:r>
              <a:rPr lang="en-IE" sz="3600" dirty="0"/>
              <a:t>That enables the user to implement more complex logic on top of the provided abstraction without understanding or even thinking about all the hidden complexity.</a:t>
            </a:r>
          </a:p>
        </p:txBody>
      </p:sp>
    </p:spTree>
    <p:extLst>
      <p:ext uri="{BB962C8B-B14F-4D97-AF65-F5344CB8AC3E}">
        <p14:creationId xmlns:p14="http://schemas.microsoft.com/office/powerpoint/2010/main" val="475848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3C3D8-4E62-AA9B-0C85-CBE27B079CB2}"/>
              </a:ext>
            </a:extLst>
          </p:cNvPr>
          <p:cNvSpPr>
            <a:spLocks noGrp="1"/>
          </p:cNvSpPr>
          <p:nvPr>
            <p:ph type="title"/>
          </p:nvPr>
        </p:nvSpPr>
        <p:spPr/>
        <p:txBody>
          <a:bodyPr/>
          <a:lstStyle/>
          <a:p>
            <a:r>
              <a:rPr lang="en-IE" dirty="0"/>
              <a:t>Encapsulation</a:t>
            </a:r>
          </a:p>
        </p:txBody>
      </p:sp>
      <p:sp>
        <p:nvSpPr>
          <p:cNvPr id="3" name="Content Placeholder 2">
            <a:extLst>
              <a:ext uri="{FF2B5EF4-FFF2-40B4-BE49-F238E27FC236}">
                <a16:creationId xmlns:a16="http://schemas.microsoft.com/office/drawing/2014/main" id="{DD186778-C473-8E40-2140-FBBC40F90ADD}"/>
              </a:ext>
            </a:extLst>
          </p:cNvPr>
          <p:cNvSpPr>
            <a:spLocks noGrp="1"/>
          </p:cNvSpPr>
          <p:nvPr>
            <p:ph idx="1"/>
          </p:nvPr>
        </p:nvSpPr>
        <p:spPr/>
        <p:txBody>
          <a:bodyPr>
            <a:normAutofit/>
          </a:bodyPr>
          <a:lstStyle/>
          <a:p>
            <a:r>
              <a:rPr lang="en-IE" sz="3600" dirty="0">
                <a:latin typeface="Rubik"/>
              </a:rPr>
              <a:t>C</a:t>
            </a:r>
            <a:r>
              <a:rPr lang="en-IE" sz="3600" b="0" i="0" dirty="0">
                <a:effectLst/>
                <a:latin typeface="Rubik"/>
              </a:rPr>
              <a:t>ombining data and the methods that operate on it into one unit, usually a class.</a:t>
            </a:r>
          </a:p>
          <a:p>
            <a:r>
              <a:rPr lang="en-IE" sz="3600" b="0" i="0" dirty="0">
                <a:effectLst/>
                <a:latin typeface="Rubik"/>
              </a:rPr>
              <a:t>Encapsulation protects data from accidental modification, enhances code organization, and streamlines interaction between program components</a:t>
            </a:r>
            <a:endParaRPr lang="en-IE" sz="3600" dirty="0"/>
          </a:p>
        </p:txBody>
      </p:sp>
    </p:spTree>
    <p:extLst>
      <p:ext uri="{BB962C8B-B14F-4D97-AF65-F5344CB8AC3E}">
        <p14:creationId xmlns:p14="http://schemas.microsoft.com/office/powerpoint/2010/main" val="24095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02EB2-EB92-FB9D-6FC7-973B10CDA23F}"/>
              </a:ext>
            </a:extLst>
          </p:cNvPr>
          <p:cNvSpPr>
            <a:spLocks noGrp="1"/>
          </p:cNvSpPr>
          <p:nvPr>
            <p:ph type="title"/>
          </p:nvPr>
        </p:nvSpPr>
        <p:spPr/>
        <p:txBody>
          <a:bodyPr/>
          <a:lstStyle/>
          <a:p>
            <a:r>
              <a:rPr lang="en-IE" dirty="0"/>
              <a:t>Inheritance</a:t>
            </a:r>
          </a:p>
        </p:txBody>
      </p:sp>
      <p:sp>
        <p:nvSpPr>
          <p:cNvPr id="3" name="Content Placeholder 2">
            <a:extLst>
              <a:ext uri="{FF2B5EF4-FFF2-40B4-BE49-F238E27FC236}">
                <a16:creationId xmlns:a16="http://schemas.microsoft.com/office/drawing/2014/main" id="{6BD1F7ED-7C46-571A-E80E-656063D4BB3B}"/>
              </a:ext>
            </a:extLst>
          </p:cNvPr>
          <p:cNvSpPr>
            <a:spLocks noGrp="1"/>
          </p:cNvSpPr>
          <p:nvPr>
            <p:ph idx="1"/>
          </p:nvPr>
        </p:nvSpPr>
        <p:spPr/>
        <p:txBody>
          <a:bodyPr>
            <a:normAutofit/>
          </a:bodyPr>
          <a:lstStyle/>
          <a:p>
            <a:r>
              <a:rPr lang="en-IE" sz="4000" dirty="0"/>
              <a:t>A mechanism where you can to derive one class from another class and construct a hierarchy of classes that share a set of attributes and methods</a:t>
            </a:r>
          </a:p>
          <a:p>
            <a:pPr marL="457200" lvl="1" indent="0">
              <a:buNone/>
            </a:pPr>
            <a:r>
              <a:rPr lang="en-IE" sz="3600" dirty="0"/>
              <a:t>Vehicle etc.</a:t>
            </a:r>
          </a:p>
        </p:txBody>
      </p:sp>
    </p:spTree>
    <p:extLst>
      <p:ext uri="{BB962C8B-B14F-4D97-AF65-F5344CB8AC3E}">
        <p14:creationId xmlns:p14="http://schemas.microsoft.com/office/powerpoint/2010/main" val="199893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76802-90DF-1DEB-A472-57B79C94EE68}"/>
              </a:ext>
            </a:extLst>
          </p:cNvPr>
          <p:cNvSpPr>
            <a:spLocks noGrp="1"/>
          </p:cNvSpPr>
          <p:nvPr>
            <p:ph type="title"/>
          </p:nvPr>
        </p:nvSpPr>
        <p:spPr/>
        <p:txBody>
          <a:bodyPr/>
          <a:lstStyle/>
          <a:p>
            <a:r>
              <a:rPr lang="en-IE" dirty="0" err="1"/>
              <a:t>Polymprphism</a:t>
            </a:r>
            <a:endParaRPr lang="en-IE" dirty="0"/>
          </a:p>
        </p:txBody>
      </p:sp>
      <p:sp>
        <p:nvSpPr>
          <p:cNvPr id="3" name="Content Placeholder 2">
            <a:extLst>
              <a:ext uri="{FF2B5EF4-FFF2-40B4-BE49-F238E27FC236}">
                <a16:creationId xmlns:a16="http://schemas.microsoft.com/office/drawing/2014/main" id="{4892801D-4D59-1FB3-D5D8-AB87044911C2}"/>
              </a:ext>
            </a:extLst>
          </p:cNvPr>
          <p:cNvSpPr>
            <a:spLocks noGrp="1"/>
          </p:cNvSpPr>
          <p:nvPr>
            <p:ph idx="1"/>
          </p:nvPr>
        </p:nvSpPr>
        <p:spPr/>
        <p:txBody>
          <a:bodyPr>
            <a:normAutofit/>
          </a:bodyPr>
          <a:lstStyle/>
          <a:p>
            <a:r>
              <a:rPr lang="en-IE" sz="3600" dirty="0"/>
              <a:t>Something which occurs in several different forms.</a:t>
            </a:r>
          </a:p>
          <a:p>
            <a:r>
              <a:rPr lang="en-IE" sz="3600" dirty="0"/>
              <a:t>The concept that you can access objects of different types through the same interface</a:t>
            </a:r>
          </a:p>
          <a:p>
            <a:pPr lvl="1"/>
            <a:r>
              <a:rPr lang="en-IE" sz="3200" dirty="0"/>
              <a:t>A collection of Vehicles can contain Mopeds and Helicopters and Cars</a:t>
            </a:r>
          </a:p>
          <a:p>
            <a:r>
              <a:rPr lang="en-IE" sz="3600" dirty="0"/>
              <a:t>Each type can provide its own independent implementation of this interface.</a:t>
            </a:r>
          </a:p>
        </p:txBody>
      </p:sp>
    </p:spTree>
    <p:extLst>
      <p:ext uri="{BB962C8B-B14F-4D97-AF65-F5344CB8AC3E}">
        <p14:creationId xmlns:p14="http://schemas.microsoft.com/office/powerpoint/2010/main" val="2716262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DD3B-CFA1-2B67-E2BD-AF6422F1E753}"/>
              </a:ext>
            </a:extLst>
          </p:cNvPr>
          <p:cNvSpPr>
            <a:spLocks noGrp="1"/>
          </p:cNvSpPr>
          <p:nvPr>
            <p:ph type="title"/>
          </p:nvPr>
        </p:nvSpPr>
        <p:spPr/>
        <p:txBody>
          <a:bodyPr/>
          <a:lstStyle/>
          <a:p>
            <a:r>
              <a:rPr lang="en-IE" dirty="0"/>
              <a:t>Association</a:t>
            </a:r>
          </a:p>
        </p:txBody>
      </p:sp>
      <p:sp>
        <p:nvSpPr>
          <p:cNvPr id="3" name="Content Placeholder 2">
            <a:extLst>
              <a:ext uri="{FF2B5EF4-FFF2-40B4-BE49-F238E27FC236}">
                <a16:creationId xmlns:a16="http://schemas.microsoft.com/office/drawing/2014/main" id="{48059AFA-1D81-5DA5-8F5A-482D490EECA6}"/>
              </a:ext>
            </a:extLst>
          </p:cNvPr>
          <p:cNvSpPr>
            <a:spLocks noGrp="1"/>
          </p:cNvSpPr>
          <p:nvPr>
            <p:ph idx="1"/>
          </p:nvPr>
        </p:nvSpPr>
        <p:spPr/>
        <p:txBody>
          <a:bodyPr>
            <a:normAutofit/>
          </a:bodyPr>
          <a:lstStyle/>
          <a:p>
            <a:r>
              <a:rPr lang="en-IE" dirty="0"/>
              <a:t>Relationships between classes play a crucial role in defining how objects interact with each other. </a:t>
            </a:r>
          </a:p>
          <a:p>
            <a:r>
              <a:rPr lang="en-IE" dirty="0"/>
              <a:t>Java provides mechanisms to model these relationships through association, aggregation, and composition. </a:t>
            </a:r>
          </a:p>
          <a:p>
            <a:r>
              <a:rPr lang="en-IE" dirty="0"/>
              <a:t>Aggregation, association, and composition in Java describe how instances of classes relate to each other.</a:t>
            </a:r>
          </a:p>
          <a:p>
            <a:r>
              <a:rPr lang="en-IE" dirty="0"/>
              <a:t>An association can be considered a generic term to indicate the relationship between two independent classes;</a:t>
            </a:r>
          </a:p>
          <a:p>
            <a:pPr lvl="1"/>
            <a:r>
              <a:rPr lang="en-IE" dirty="0"/>
              <a:t>the relationship may be one-to-one, one-to-many, or many-to-many, but it need not indicate ownership.</a:t>
            </a:r>
          </a:p>
          <a:p>
            <a:endParaRPr lang="en-IE" dirty="0"/>
          </a:p>
        </p:txBody>
      </p:sp>
    </p:spTree>
    <p:extLst>
      <p:ext uri="{BB962C8B-B14F-4D97-AF65-F5344CB8AC3E}">
        <p14:creationId xmlns:p14="http://schemas.microsoft.com/office/powerpoint/2010/main" val="1273362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different types of circles&#10;&#10;Description automatically generated">
            <a:extLst>
              <a:ext uri="{FF2B5EF4-FFF2-40B4-BE49-F238E27FC236}">
                <a16:creationId xmlns:a16="http://schemas.microsoft.com/office/drawing/2014/main" id="{123F56F8-8C87-9CC4-C02C-57616C7D28D6}"/>
              </a:ext>
            </a:extLst>
          </p:cNvPr>
          <p:cNvPicPr>
            <a:picLocks noGrp="1" noChangeAspect="1"/>
          </p:cNvPicPr>
          <p:nvPr>
            <p:ph idx="1"/>
          </p:nvPr>
        </p:nvPicPr>
        <p:blipFill>
          <a:blip r:embed="rId3"/>
          <a:stretch>
            <a:fillRect/>
          </a:stretch>
        </p:blipFill>
        <p:spPr>
          <a:xfrm>
            <a:off x="137699" y="5954"/>
            <a:ext cx="11916602" cy="6852046"/>
          </a:xfrm>
        </p:spPr>
      </p:pic>
      <p:sp>
        <p:nvSpPr>
          <p:cNvPr id="6" name="Title 5">
            <a:extLst>
              <a:ext uri="{FF2B5EF4-FFF2-40B4-BE49-F238E27FC236}">
                <a16:creationId xmlns:a16="http://schemas.microsoft.com/office/drawing/2014/main" id="{4D7EA62C-A1F3-303D-120A-7B9387AE784F}"/>
              </a:ext>
            </a:extLst>
          </p:cNvPr>
          <p:cNvSpPr>
            <a:spLocks noGrp="1"/>
          </p:cNvSpPr>
          <p:nvPr>
            <p:ph type="title"/>
          </p:nvPr>
        </p:nvSpPr>
        <p:spPr/>
        <p:txBody>
          <a:bodyPr/>
          <a:lstStyle/>
          <a:p>
            <a:r>
              <a:rPr lang="en-IE" dirty="0">
                <a:noFill/>
              </a:rPr>
              <a:t>Association Aggregation and Composition</a:t>
            </a:r>
          </a:p>
        </p:txBody>
      </p:sp>
    </p:spTree>
    <p:extLst>
      <p:ext uri="{BB962C8B-B14F-4D97-AF65-F5344CB8AC3E}">
        <p14:creationId xmlns:p14="http://schemas.microsoft.com/office/powerpoint/2010/main" val="2654712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D974-2867-050F-99FE-123596928F64}"/>
              </a:ext>
            </a:extLst>
          </p:cNvPr>
          <p:cNvSpPr>
            <a:spLocks noGrp="1"/>
          </p:cNvSpPr>
          <p:nvPr>
            <p:ph type="title"/>
          </p:nvPr>
        </p:nvSpPr>
        <p:spPr/>
        <p:txBody>
          <a:bodyPr/>
          <a:lstStyle/>
          <a:p>
            <a:r>
              <a:rPr lang="en-IE" dirty="0"/>
              <a:t>Aggregation</a:t>
            </a:r>
          </a:p>
        </p:txBody>
      </p:sp>
      <p:sp>
        <p:nvSpPr>
          <p:cNvPr id="3" name="Content Placeholder 2">
            <a:extLst>
              <a:ext uri="{FF2B5EF4-FFF2-40B4-BE49-F238E27FC236}">
                <a16:creationId xmlns:a16="http://schemas.microsoft.com/office/drawing/2014/main" id="{C6417B7D-447B-4377-4542-E4A0EE126BB1}"/>
              </a:ext>
            </a:extLst>
          </p:cNvPr>
          <p:cNvSpPr>
            <a:spLocks noGrp="1"/>
          </p:cNvSpPr>
          <p:nvPr>
            <p:ph idx="1"/>
          </p:nvPr>
        </p:nvSpPr>
        <p:spPr/>
        <p:txBody>
          <a:bodyPr>
            <a:normAutofit/>
          </a:bodyPr>
          <a:lstStyle/>
          <a:p>
            <a:r>
              <a:rPr lang="en-IE" sz="3600" dirty="0"/>
              <a:t>Aggregation is a specific form of association in which one class, the whole, contains a collection of other classes, the parts; </a:t>
            </a:r>
          </a:p>
          <a:p>
            <a:pPr lvl="1"/>
            <a:r>
              <a:rPr lang="en-IE" sz="3200" dirty="0"/>
              <a:t>here, however, the lifecycle of the parts does not depend upon the whole</a:t>
            </a:r>
          </a:p>
          <a:p>
            <a:pPr lvl="1"/>
            <a:r>
              <a:rPr lang="en-IE" sz="3200" dirty="0"/>
              <a:t>For example, a library and books show aggregation, since books may exist somewhere apart from the library.</a:t>
            </a:r>
          </a:p>
          <a:p>
            <a:pPr marL="0" indent="0">
              <a:buNone/>
            </a:pPr>
            <a:endParaRPr lang="en-IE" sz="3600" dirty="0"/>
          </a:p>
        </p:txBody>
      </p:sp>
    </p:spTree>
    <p:extLst>
      <p:ext uri="{BB962C8B-B14F-4D97-AF65-F5344CB8AC3E}">
        <p14:creationId xmlns:p14="http://schemas.microsoft.com/office/powerpoint/2010/main" val="2585881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7EA93-5EC9-81E9-2702-75C77E320F60}"/>
              </a:ext>
            </a:extLst>
          </p:cNvPr>
          <p:cNvSpPr>
            <a:spLocks noGrp="1"/>
          </p:cNvSpPr>
          <p:nvPr>
            <p:ph type="title"/>
          </p:nvPr>
        </p:nvSpPr>
        <p:spPr/>
        <p:txBody>
          <a:bodyPr/>
          <a:lstStyle/>
          <a:p>
            <a:r>
              <a:rPr lang="en-IE" dirty="0"/>
              <a:t>Composition</a:t>
            </a:r>
          </a:p>
        </p:txBody>
      </p:sp>
      <p:sp>
        <p:nvSpPr>
          <p:cNvPr id="3" name="Content Placeholder 2">
            <a:extLst>
              <a:ext uri="{FF2B5EF4-FFF2-40B4-BE49-F238E27FC236}">
                <a16:creationId xmlns:a16="http://schemas.microsoft.com/office/drawing/2014/main" id="{F41186BB-316E-824A-A877-6C120A14B5EA}"/>
              </a:ext>
            </a:extLst>
          </p:cNvPr>
          <p:cNvSpPr>
            <a:spLocks noGrp="1"/>
          </p:cNvSpPr>
          <p:nvPr>
            <p:ph idx="1"/>
          </p:nvPr>
        </p:nvSpPr>
        <p:spPr/>
        <p:txBody>
          <a:bodyPr>
            <a:normAutofit/>
          </a:bodyPr>
          <a:lstStyle/>
          <a:p>
            <a:r>
              <a:rPr lang="en-IE" sz="3600" dirty="0"/>
              <a:t>Composition is a stronger form of aggregation that means ownership and lifecycle dependence; if the whole gets destroyed, then the parts no longer exist.</a:t>
            </a:r>
          </a:p>
          <a:p>
            <a:r>
              <a:rPr lang="en-IE" sz="3600" dirty="0"/>
              <a:t>For composition, a good example would be a house and its different rooms; a room cannot exist without a house</a:t>
            </a:r>
          </a:p>
          <a:p>
            <a:endParaRPr lang="en-IE" sz="3600" dirty="0"/>
          </a:p>
        </p:txBody>
      </p:sp>
    </p:spTree>
    <p:extLst>
      <p:ext uri="{BB962C8B-B14F-4D97-AF65-F5344CB8AC3E}">
        <p14:creationId xmlns:p14="http://schemas.microsoft.com/office/powerpoint/2010/main" val="154343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CD3D-6A52-5C89-12DC-B2FF903D8AB6}"/>
              </a:ext>
            </a:extLst>
          </p:cNvPr>
          <p:cNvSpPr>
            <a:spLocks noGrp="1"/>
          </p:cNvSpPr>
          <p:nvPr>
            <p:ph type="title"/>
          </p:nvPr>
        </p:nvSpPr>
        <p:spPr/>
        <p:txBody>
          <a:bodyPr/>
          <a:lstStyle/>
          <a:p>
            <a:r>
              <a:rPr lang="en-IE" dirty="0"/>
              <a:t>More on Association</a:t>
            </a:r>
          </a:p>
        </p:txBody>
      </p:sp>
      <p:sp>
        <p:nvSpPr>
          <p:cNvPr id="3" name="Content Placeholder 2">
            <a:extLst>
              <a:ext uri="{FF2B5EF4-FFF2-40B4-BE49-F238E27FC236}">
                <a16:creationId xmlns:a16="http://schemas.microsoft.com/office/drawing/2014/main" id="{F7CBD519-A409-4A67-13B8-42B934C8307F}"/>
              </a:ext>
            </a:extLst>
          </p:cNvPr>
          <p:cNvSpPr>
            <a:spLocks noGrp="1"/>
          </p:cNvSpPr>
          <p:nvPr>
            <p:ph idx="1"/>
          </p:nvPr>
        </p:nvSpPr>
        <p:spPr/>
        <p:txBody>
          <a:bodyPr>
            <a:normAutofit/>
          </a:bodyPr>
          <a:lstStyle/>
          <a:p>
            <a:r>
              <a:rPr lang="en-IE" sz="3200" dirty="0"/>
              <a:t>Association describes the relationship between two independent classes.</a:t>
            </a:r>
          </a:p>
          <a:p>
            <a:r>
              <a:rPr lang="en-IE" sz="3200" dirty="0"/>
              <a:t>Association can be viewed as describing a “uses-a” relationship where an object uses, or in any way interacts with, another object. </a:t>
            </a:r>
          </a:p>
          <a:p>
            <a:r>
              <a:rPr lang="en-IE" sz="3200" dirty="0"/>
              <a:t>Association may be either unidirectional or bidirectional and may exist in several forms, such as one-to-one, one-to-many, many-to-one, and many-to-many, similar to database relationships</a:t>
            </a:r>
          </a:p>
        </p:txBody>
      </p:sp>
    </p:spTree>
    <p:extLst>
      <p:ext uri="{BB962C8B-B14F-4D97-AF65-F5344CB8AC3E}">
        <p14:creationId xmlns:p14="http://schemas.microsoft.com/office/powerpoint/2010/main" val="3908205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6E4E3-D724-146A-DF39-43CD08C87A86}"/>
              </a:ext>
            </a:extLst>
          </p:cNvPr>
          <p:cNvSpPr>
            <a:spLocks noGrp="1"/>
          </p:cNvSpPr>
          <p:nvPr>
            <p:ph type="title"/>
          </p:nvPr>
        </p:nvSpPr>
        <p:spPr/>
        <p:txBody>
          <a:bodyPr/>
          <a:lstStyle/>
          <a:p>
            <a:r>
              <a:rPr lang="en-IE" dirty="0"/>
              <a:t>More on Association</a:t>
            </a:r>
          </a:p>
        </p:txBody>
      </p:sp>
      <p:sp>
        <p:nvSpPr>
          <p:cNvPr id="3" name="Content Placeholder 2">
            <a:extLst>
              <a:ext uri="{FF2B5EF4-FFF2-40B4-BE49-F238E27FC236}">
                <a16:creationId xmlns:a16="http://schemas.microsoft.com/office/drawing/2014/main" id="{1EE702E9-489C-8226-120D-3F7C2EB90972}"/>
              </a:ext>
            </a:extLst>
          </p:cNvPr>
          <p:cNvSpPr>
            <a:spLocks noGrp="1"/>
          </p:cNvSpPr>
          <p:nvPr>
            <p:ph idx="1"/>
          </p:nvPr>
        </p:nvSpPr>
        <p:spPr/>
        <p:txBody>
          <a:bodyPr>
            <a:normAutofit/>
          </a:bodyPr>
          <a:lstStyle/>
          <a:p>
            <a:r>
              <a:rPr lang="en-IE" dirty="0"/>
              <a:t>Unidirectional Association is the one in which one class is aware and associated with another class;</a:t>
            </a:r>
          </a:p>
          <a:p>
            <a:pPr lvl="1"/>
            <a:r>
              <a:rPr lang="en-IE" dirty="0"/>
              <a:t>the reverse is not true. </a:t>
            </a:r>
          </a:p>
          <a:p>
            <a:pPr lvl="1"/>
            <a:r>
              <a:rPr lang="en-IE" dirty="0"/>
              <a:t>For example, the Student class can be associated with the </a:t>
            </a:r>
            <a:r>
              <a:rPr lang="en-IE" dirty="0" err="1"/>
              <a:t>LibraryCard</a:t>
            </a:r>
            <a:r>
              <a:rPr lang="en-IE" dirty="0"/>
              <a:t> class, for the association where the student has a library card; </a:t>
            </a:r>
          </a:p>
          <a:p>
            <a:pPr lvl="1"/>
            <a:r>
              <a:rPr lang="en-IE" dirty="0"/>
              <a:t>a </a:t>
            </a:r>
            <a:r>
              <a:rPr lang="en-IE" dirty="0" err="1"/>
              <a:t>LibraryCard</a:t>
            </a:r>
            <a:r>
              <a:rPr lang="en-IE" dirty="0"/>
              <a:t> does not need to ‘know about’ a Student.</a:t>
            </a:r>
          </a:p>
        </p:txBody>
      </p:sp>
    </p:spTree>
    <p:extLst>
      <p:ext uri="{BB962C8B-B14F-4D97-AF65-F5344CB8AC3E}">
        <p14:creationId xmlns:p14="http://schemas.microsoft.com/office/powerpoint/2010/main" val="465973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D16C5-0771-CD72-1ADD-A90C0E69412C}"/>
              </a:ext>
            </a:extLst>
          </p:cNvPr>
          <p:cNvSpPr>
            <a:spLocks noGrp="1"/>
          </p:cNvSpPr>
          <p:nvPr>
            <p:ph type="title"/>
          </p:nvPr>
        </p:nvSpPr>
        <p:spPr/>
        <p:txBody>
          <a:bodyPr/>
          <a:lstStyle/>
          <a:p>
            <a:r>
              <a:rPr lang="en-IE" dirty="0"/>
              <a:t>More on Association</a:t>
            </a:r>
          </a:p>
        </p:txBody>
      </p:sp>
      <p:sp>
        <p:nvSpPr>
          <p:cNvPr id="3" name="Content Placeholder 2">
            <a:extLst>
              <a:ext uri="{FF2B5EF4-FFF2-40B4-BE49-F238E27FC236}">
                <a16:creationId xmlns:a16="http://schemas.microsoft.com/office/drawing/2014/main" id="{BD7F45E7-0E33-DD52-9A42-BAB3D29CCC25}"/>
              </a:ext>
            </a:extLst>
          </p:cNvPr>
          <p:cNvSpPr>
            <a:spLocks noGrp="1"/>
          </p:cNvSpPr>
          <p:nvPr>
            <p:ph idx="1"/>
          </p:nvPr>
        </p:nvSpPr>
        <p:spPr/>
        <p:txBody>
          <a:bodyPr>
            <a:normAutofit/>
          </a:bodyPr>
          <a:lstStyle/>
          <a:p>
            <a:r>
              <a:rPr lang="en-IE" sz="3600" dirty="0"/>
              <a:t>In Bidirectional Association the classes are aware of each other and interact with one another. </a:t>
            </a:r>
          </a:p>
          <a:p>
            <a:r>
              <a:rPr lang="en-IE" sz="3600" dirty="0"/>
              <a:t>For example, a Teacher class and a Classroom class may be associated bidirectionally;</a:t>
            </a:r>
          </a:p>
          <a:p>
            <a:pPr lvl="1"/>
            <a:r>
              <a:rPr lang="en-IE" sz="3200" dirty="0"/>
              <a:t>there would be a teacher assigned to a classroom, and a classroom would know to which teacher it is assigned.</a:t>
            </a:r>
          </a:p>
        </p:txBody>
      </p:sp>
    </p:spTree>
    <p:extLst>
      <p:ext uri="{BB962C8B-B14F-4D97-AF65-F5344CB8AC3E}">
        <p14:creationId xmlns:p14="http://schemas.microsoft.com/office/powerpoint/2010/main" val="590154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7958-A294-1DB5-6EC2-70A0DA511FB7}"/>
              </a:ext>
            </a:extLst>
          </p:cNvPr>
          <p:cNvSpPr>
            <a:spLocks noGrp="1"/>
          </p:cNvSpPr>
          <p:nvPr>
            <p:ph type="title"/>
          </p:nvPr>
        </p:nvSpPr>
        <p:spPr/>
        <p:txBody>
          <a:bodyPr/>
          <a:lstStyle/>
          <a:p>
            <a:pPr lvl="0"/>
            <a:r>
              <a:rPr lang="en-IE" sz="3600" dirty="0"/>
              <a:t>More on Aggregation</a:t>
            </a:r>
            <a:endParaRPr lang="en-IE" dirty="0"/>
          </a:p>
        </p:txBody>
      </p:sp>
      <p:sp>
        <p:nvSpPr>
          <p:cNvPr id="3" name="Content Placeholder 2">
            <a:extLst>
              <a:ext uri="{FF2B5EF4-FFF2-40B4-BE49-F238E27FC236}">
                <a16:creationId xmlns:a16="http://schemas.microsoft.com/office/drawing/2014/main" id="{B5EAA28A-3A5A-16DD-0F72-6E9D3F4B0EC2}"/>
              </a:ext>
            </a:extLst>
          </p:cNvPr>
          <p:cNvSpPr>
            <a:spLocks noGrp="1"/>
          </p:cNvSpPr>
          <p:nvPr>
            <p:ph idx="1"/>
          </p:nvPr>
        </p:nvSpPr>
        <p:spPr/>
        <p:txBody>
          <a:bodyPr>
            <a:normAutofit/>
          </a:bodyPr>
          <a:lstStyle/>
          <a:p>
            <a:r>
              <a:rPr lang="en-IE" dirty="0"/>
              <a:t>Classifying an instance of a class as “has a.” </a:t>
            </a:r>
          </a:p>
          <a:p>
            <a:r>
              <a:rPr lang="en-IE" dirty="0"/>
              <a:t>It’s a form of association with weaker relationship strength, whereby the lifetime of the contained object (part) is not controlled based on the lifetime of the container object (whole). </a:t>
            </a:r>
          </a:p>
          <a:p>
            <a:r>
              <a:rPr lang="en-IE" dirty="0"/>
              <a:t>Concepts of aggregation are quite important for developing modular and reusable software components.</a:t>
            </a:r>
          </a:p>
        </p:txBody>
      </p:sp>
    </p:spTree>
    <p:extLst>
      <p:ext uri="{BB962C8B-B14F-4D97-AF65-F5344CB8AC3E}">
        <p14:creationId xmlns:p14="http://schemas.microsoft.com/office/powerpoint/2010/main" val="2706199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AE7B-865D-B135-68FF-A81A68EB6E19}"/>
              </a:ext>
            </a:extLst>
          </p:cNvPr>
          <p:cNvSpPr>
            <a:spLocks noGrp="1"/>
          </p:cNvSpPr>
          <p:nvPr>
            <p:ph type="title"/>
          </p:nvPr>
        </p:nvSpPr>
        <p:spPr/>
        <p:txBody>
          <a:bodyPr/>
          <a:lstStyle/>
          <a:p>
            <a:r>
              <a:rPr lang="en-IE" dirty="0"/>
              <a:t>More on Aggregation…</a:t>
            </a:r>
          </a:p>
        </p:txBody>
      </p:sp>
      <p:sp>
        <p:nvSpPr>
          <p:cNvPr id="3" name="Content Placeholder 2">
            <a:extLst>
              <a:ext uri="{FF2B5EF4-FFF2-40B4-BE49-F238E27FC236}">
                <a16:creationId xmlns:a16="http://schemas.microsoft.com/office/drawing/2014/main" id="{8A2EDF4A-901B-B177-EECC-E7F4DF182537}"/>
              </a:ext>
            </a:extLst>
          </p:cNvPr>
          <p:cNvSpPr>
            <a:spLocks noGrp="1"/>
          </p:cNvSpPr>
          <p:nvPr>
            <p:ph idx="1"/>
          </p:nvPr>
        </p:nvSpPr>
        <p:spPr/>
        <p:txBody>
          <a:bodyPr/>
          <a:lstStyle/>
          <a:p>
            <a:r>
              <a:rPr lang="en-IE" dirty="0"/>
              <a:t>Aggregation is a type of association that represents a relationship where one class is a collection or container of another class. </a:t>
            </a:r>
          </a:p>
          <a:p>
            <a:r>
              <a:rPr lang="en-IE" dirty="0"/>
              <a:t>It depicts a “has-a” relationship, where the container object can exist independently of its contents, and the contained objects can exist independently of the container.</a:t>
            </a:r>
          </a:p>
        </p:txBody>
      </p:sp>
    </p:spTree>
    <p:extLst>
      <p:ext uri="{BB962C8B-B14F-4D97-AF65-F5344CB8AC3E}">
        <p14:creationId xmlns:p14="http://schemas.microsoft.com/office/powerpoint/2010/main" val="2631769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17C2-BB4D-C17B-CDCC-CC1794A1615D}"/>
              </a:ext>
            </a:extLst>
          </p:cNvPr>
          <p:cNvSpPr>
            <a:spLocks noGrp="1"/>
          </p:cNvSpPr>
          <p:nvPr>
            <p:ph type="title"/>
          </p:nvPr>
        </p:nvSpPr>
        <p:spPr/>
        <p:txBody>
          <a:bodyPr/>
          <a:lstStyle/>
          <a:p>
            <a:r>
              <a:rPr lang="en-IE" dirty="0"/>
              <a:t>More</a:t>
            </a:r>
            <a:r>
              <a:rPr lang="en-IE" baseline="0" dirty="0"/>
              <a:t> On Aggregation</a:t>
            </a:r>
            <a:endParaRPr lang="en-IE" dirty="0"/>
          </a:p>
        </p:txBody>
      </p:sp>
      <p:sp>
        <p:nvSpPr>
          <p:cNvPr id="3" name="Content Placeholder 2">
            <a:extLst>
              <a:ext uri="{FF2B5EF4-FFF2-40B4-BE49-F238E27FC236}">
                <a16:creationId xmlns:a16="http://schemas.microsoft.com/office/drawing/2014/main" id="{91DDD7AA-4F39-D3DA-84D4-69BDE168EC7E}"/>
              </a:ext>
            </a:extLst>
          </p:cNvPr>
          <p:cNvSpPr>
            <a:spLocks noGrp="1"/>
          </p:cNvSpPr>
          <p:nvPr>
            <p:ph idx="1"/>
          </p:nvPr>
        </p:nvSpPr>
        <p:spPr/>
        <p:txBody>
          <a:bodyPr>
            <a:normAutofit/>
          </a:bodyPr>
          <a:lstStyle/>
          <a:p>
            <a:r>
              <a:rPr lang="en-IE" sz="3600" dirty="0"/>
              <a:t>A special form of Association where: </a:t>
            </a:r>
          </a:p>
          <a:p>
            <a:pPr lvl="1"/>
            <a:r>
              <a:rPr lang="en-IE" sz="3200" dirty="0"/>
              <a:t>It represents Has-A’s relationship</a:t>
            </a:r>
          </a:p>
          <a:p>
            <a:pPr lvl="1"/>
            <a:r>
              <a:rPr lang="en-IE" sz="3200" dirty="0"/>
              <a:t>It is a unidirectional association i.e. a one-way relationship. </a:t>
            </a:r>
          </a:p>
          <a:p>
            <a:pPr lvl="2"/>
            <a:r>
              <a:rPr lang="en-IE" sz="2800" dirty="0"/>
              <a:t>For example, a department can have students but vice versa is not possible and thus unidirectional in nature.</a:t>
            </a:r>
          </a:p>
          <a:p>
            <a:pPr lvl="1"/>
            <a:r>
              <a:rPr lang="en-IE" sz="3200" dirty="0"/>
              <a:t>In Aggregation, both entries can survive individually which means ending one entity will not affect the other entity.</a:t>
            </a:r>
          </a:p>
        </p:txBody>
      </p:sp>
    </p:spTree>
    <p:extLst>
      <p:ext uri="{BB962C8B-B14F-4D97-AF65-F5344CB8AC3E}">
        <p14:creationId xmlns:p14="http://schemas.microsoft.com/office/powerpoint/2010/main" val="2753254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69C0D-B06F-3270-F13B-0FE33EA8BC29}"/>
              </a:ext>
            </a:extLst>
          </p:cNvPr>
          <p:cNvSpPr>
            <a:spLocks noGrp="1"/>
          </p:cNvSpPr>
          <p:nvPr>
            <p:ph type="title"/>
          </p:nvPr>
        </p:nvSpPr>
        <p:spPr>
          <a:noFill/>
        </p:spPr>
        <p:txBody>
          <a:bodyPr/>
          <a:lstStyle/>
          <a:p>
            <a:r>
              <a:rPr lang="en-IE" dirty="0">
                <a:noFill/>
              </a:rPr>
              <a:t>More on</a:t>
            </a:r>
            <a:r>
              <a:rPr lang="en-IE" baseline="0" dirty="0">
                <a:noFill/>
              </a:rPr>
              <a:t> Aggregation…</a:t>
            </a:r>
          </a:p>
        </p:txBody>
      </p:sp>
      <p:pic>
        <p:nvPicPr>
          <p:cNvPr id="5" name="Content Placeholder 4" descr="A diagram of a student&#10;&#10;Description automatically generated">
            <a:extLst>
              <a:ext uri="{FF2B5EF4-FFF2-40B4-BE49-F238E27FC236}">
                <a16:creationId xmlns:a16="http://schemas.microsoft.com/office/drawing/2014/main" id="{0C9DC98A-E8D6-0EB8-847A-FA361AEC33FF}"/>
              </a:ext>
            </a:extLst>
          </p:cNvPr>
          <p:cNvPicPr>
            <a:picLocks noGrp="1" noChangeAspect="1"/>
          </p:cNvPicPr>
          <p:nvPr>
            <p:ph idx="1"/>
          </p:nvPr>
        </p:nvPicPr>
        <p:blipFill>
          <a:blip r:embed="rId3"/>
          <a:stretch>
            <a:fillRect/>
          </a:stretch>
        </p:blipFill>
        <p:spPr>
          <a:xfrm>
            <a:off x="1645953" y="72736"/>
            <a:ext cx="8900093" cy="6712527"/>
          </a:xfrm>
        </p:spPr>
      </p:pic>
    </p:spTree>
    <p:extLst>
      <p:ext uri="{BB962C8B-B14F-4D97-AF65-F5344CB8AC3E}">
        <p14:creationId xmlns:p14="http://schemas.microsoft.com/office/powerpoint/2010/main" val="2419741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7170C-C940-0045-2714-A2D5142F9F34}"/>
              </a:ext>
            </a:extLst>
          </p:cNvPr>
          <p:cNvSpPr>
            <a:spLocks noGrp="1"/>
          </p:cNvSpPr>
          <p:nvPr>
            <p:ph type="title"/>
          </p:nvPr>
        </p:nvSpPr>
        <p:spPr/>
        <p:txBody>
          <a:bodyPr/>
          <a:lstStyle/>
          <a:p>
            <a:r>
              <a:rPr lang="en-IE" dirty="0">
                <a:noFill/>
              </a:rPr>
              <a:t>More on</a:t>
            </a:r>
            <a:r>
              <a:rPr lang="en-IE" baseline="0" dirty="0">
                <a:noFill/>
              </a:rPr>
              <a:t> Aggregation…</a:t>
            </a:r>
            <a:endParaRPr lang="en-IE" dirty="0">
              <a:noFill/>
            </a:endParaRPr>
          </a:p>
        </p:txBody>
      </p:sp>
      <p:pic>
        <p:nvPicPr>
          <p:cNvPr id="5" name="Content Placeholder 4" descr="A diagram of a diagram of a group of green squares&#10;&#10;Description automatically generated">
            <a:extLst>
              <a:ext uri="{FF2B5EF4-FFF2-40B4-BE49-F238E27FC236}">
                <a16:creationId xmlns:a16="http://schemas.microsoft.com/office/drawing/2014/main" id="{BF2D4A0E-2CCF-A1F3-8805-9976201BCBD6}"/>
              </a:ext>
            </a:extLst>
          </p:cNvPr>
          <p:cNvPicPr>
            <a:picLocks noGrp="1" noChangeAspect="1"/>
          </p:cNvPicPr>
          <p:nvPr>
            <p:ph idx="1"/>
          </p:nvPr>
        </p:nvPicPr>
        <p:blipFill>
          <a:blip r:embed="rId3"/>
          <a:stretch>
            <a:fillRect/>
          </a:stretch>
        </p:blipFill>
        <p:spPr>
          <a:xfrm>
            <a:off x="-12122" y="580292"/>
            <a:ext cx="12204122" cy="5697415"/>
          </a:xfrm>
        </p:spPr>
      </p:pic>
    </p:spTree>
    <p:extLst>
      <p:ext uri="{BB962C8B-B14F-4D97-AF65-F5344CB8AC3E}">
        <p14:creationId xmlns:p14="http://schemas.microsoft.com/office/powerpoint/2010/main" val="3159222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48994-57E6-C229-85FA-17EF323D4CED}"/>
              </a:ext>
            </a:extLst>
          </p:cNvPr>
          <p:cNvSpPr>
            <a:spLocks noGrp="1"/>
          </p:cNvSpPr>
          <p:nvPr>
            <p:ph type="title"/>
          </p:nvPr>
        </p:nvSpPr>
        <p:spPr/>
        <p:txBody>
          <a:bodyPr/>
          <a:lstStyle/>
          <a:p>
            <a:r>
              <a:rPr lang="en-IE" dirty="0"/>
              <a:t>More on Composition…</a:t>
            </a:r>
          </a:p>
        </p:txBody>
      </p:sp>
      <p:sp>
        <p:nvSpPr>
          <p:cNvPr id="3" name="Content Placeholder 2">
            <a:extLst>
              <a:ext uri="{FF2B5EF4-FFF2-40B4-BE49-F238E27FC236}">
                <a16:creationId xmlns:a16="http://schemas.microsoft.com/office/drawing/2014/main" id="{C00E2937-53D5-A23A-B1DF-A146626B47D3}"/>
              </a:ext>
            </a:extLst>
          </p:cNvPr>
          <p:cNvSpPr>
            <a:spLocks noGrp="1"/>
          </p:cNvSpPr>
          <p:nvPr>
            <p:ph idx="1"/>
          </p:nvPr>
        </p:nvSpPr>
        <p:spPr/>
        <p:txBody>
          <a:bodyPr>
            <a:normAutofit/>
          </a:bodyPr>
          <a:lstStyle/>
          <a:p>
            <a:r>
              <a:rPr lang="en-IE" dirty="0"/>
              <a:t>Composition refers to the relationship “part-of” between classes. It is a stronger form of association in which the contained objects’ lifecycle is strongly associated with the container object’s lifecycle.</a:t>
            </a:r>
          </a:p>
          <a:p>
            <a:r>
              <a:rPr lang="en-IE" dirty="0"/>
              <a:t>The understanding of composition is crucial in the design of complex systems where objects of the system are composed of other objects.</a:t>
            </a:r>
          </a:p>
        </p:txBody>
      </p:sp>
    </p:spTree>
    <p:extLst>
      <p:ext uri="{BB962C8B-B14F-4D97-AF65-F5344CB8AC3E}">
        <p14:creationId xmlns:p14="http://schemas.microsoft.com/office/powerpoint/2010/main" val="1846528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ECA60-0ED4-F441-708D-52497CC48C34}"/>
              </a:ext>
            </a:extLst>
          </p:cNvPr>
          <p:cNvSpPr>
            <a:spLocks noGrp="1"/>
          </p:cNvSpPr>
          <p:nvPr>
            <p:ph type="title"/>
          </p:nvPr>
        </p:nvSpPr>
        <p:spPr/>
        <p:txBody>
          <a:bodyPr/>
          <a:lstStyle/>
          <a:p>
            <a:r>
              <a:rPr lang="en-IE" dirty="0"/>
              <a:t>More on Composition…</a:t>
            </a:r>
          </a:p>
        </p:txBody>
      </p:sp>
      <p:sp>
        <p:nvSpPr>
          <p:cNvPr id="3" name="Content Placeholder 2">
            <a:extLst>
              <a:ext uri="{FF2B5EF4-FFF2-40B4-BE49-F238E27FC236}">
                <a16:creationId xmlns:a16="http://schemas.microsoft.com/office/drawing/2014/main" id="{64663619-AA6F-F059-4E0B-F0F3C4EF3F11}"/>
              </a:ext>
            </a:extLst>
          </p:cNvPr>
          <p:cNvSpPr>
            <a:spLocks noGrp="1"/>
          </p:cNvSpPr>
          <p:nvPr>
            <p:ph idx="1"/>
          </p:nvPr>
        </p:nvSpPr>
        <p:spPr/>
        <p:txBody>
          <a:bodyPr/>
          <a:lstStyle/>
          <a:p>
            <a:r>
              <a:rPr lang="en-IE" dirty="0"/>
              <a:t>Composition is a type of association meaning one class “contains” another. </a:t>
            </a:r>
          </a:p>
          <a:p>
            <a:r>
              <a:rPr lang="en-IE" dirty="0"/>
              <a:t>This association can be said to be a “part-of” relationship and would denote that the contained object is strongly connected with the containing object, the whole. </a:t>
            </a:r>
          </a:p>
          <a:p>
            <a:r>
              <a:rPr lang="en-IE" dirty="0"/>
              <a:t>The parts cannot be without the whole.</a:t>
            </a:r>
          </a:p>
        </p:txBody>
      </p:sp>
    </p:spTree>
    <p:extLst>
      <p:ext uri="{BB962C8B-B14F-4D97-AF65-F5344CB8AC3E}">
        <p14:creationId xmlns:p14="http://schemas.microsoft.com/office/powerpoint/2010/main" val="3693976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EF7FE-FBCA-45AE-E63B-715EFD0C4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9A76F-634E-BEC6-D60F-FC8D82AD81AA}"/>
              </a:ext>
            </a:extLst>
          </p:cNvPr>
          <p:cNvSpPr>
            <a:spLocks noGrp="1"/>
          </p:cNvSpPr>
          <p:nvPr>
            <p:ph type="title"/>
          </p:nvPr>
        </p:nvSpPr>
        <p:spPr/>
        <p:txBody>
          <a:bodyPr/>
          <a:lstStyle/>
          <a:p>
            <a:r>
              <a:rPr lang="en-IE" dirty="0"/>
              <a:t>More on Composition…</a:t>
            </a:r>
          </a:p>
        </p:txBody>
      </p:sp>
      <p:sp>
        <p:nvSpPr>
          <p:cNvPr id="3" name="Content Placeholder 2">
            <a:extLst>
              <a:ext uri="{FF2B5EF4-FFF2-40B4-BE49-F238E27FC236}">
                <a16:creationId xmlns:a16="http://schemas.microsoft.com/office/drawing/2014/main" id="{4BA652E8-DCFF-A72A-B462-07B54C5063DA}"/>
              </a:ext>
            </a:extLst>
          </p:cNvPr>
          <p:cNvSpPr>
            <a:spLocks noGrp="1"/>
          </p:cNvSpPr>
          <p:nvPr>
            <p:ph idx="1"/>
          </p:nvPr>
        </p:nvSpPr>
        <p:spPr/>
        <p:txBody>
          <a:bodyPr>
            <a:normAutofit/>
          </a:bodyPr>
          <a:lstStyle/>
          <a:p>
            <a:r>
              <a:rPr lang="en-IE" dirty="0"/>
              <a:t>Composition is a restricted form of Aggregation in which two entities are highly dependent on each other.  </a:t>
            </a:r>
          </a:p>
          <a:p>
            <a:endParaRPr lang="en-IE" dirty="0"/>
          </a:p>
          <a:p>
            <a:r>
              <a:rPr lang="en-IE" dirty="0"/>
              <a:t>It represents part-of relationship.</a:t>
            </a:r>
          </a:p>
          <a:p>
            <a:r>
              <a:rPr lang="en-IE" dirty="0"/>
              <a:t>In composition, both entities are dependent on each other.</a:t>
            </a:r>
          </a:p>
          <a:p>
            <a:r>
              <a:rPr lang="en-IE" dirty="0"/>
              <a:t>When there is a composition between two entities, the composed object cannot exist without the other entity.</a:t>
            </a:r>
          </a:p>
        </p:txBody>
      </p:sp>
    </p:spTree>
    <p:extLst>
      <p:ext uri="{BB962C8B-B14F-4D97-AF65-F5344CB8AC3E}">
        <p14:creationId xmlns:p14="http://schemas.microsoft.com/office/powerpoint/2010/main" val="3356743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E9311-2A37-398E-9CD3-94318E46B722}"/>
              </a:ext>
            </a:extLst>
          </p:cNvPr>
          <p:cNvSpPr>
            <a:spLocks noGrp="1"/>
          </p:cNvSpPr>
          <p:nvPr>
            <p:ph type="title"/>
          </p:nvPr>
        </p:nvSpPr>
        <p:spPr/>
        <p:txBody>
          <a:bodyPr/>
          <a:lstStyle/>
          <a:p>
            <a:r>
              <a:rPr lang="en-IE" dirty="0">
                <a:noFill/>
              </a:rPr>
              <a:t>More on Composition…</a:t>
            </a:r>
          </a:p>
        </p:txBody>
      </p:sp>
      <p:pic>
        <p:nvPicPr>
          <p:cNvPr id="5" name="Content Placeholder 4" descr="A diagram of a vehicle&#10;&#10;Description automatically generated">
            <a:extLst>
              <a:ext uri="{FF2B5EF4-FFF2-40B4-BE49-F238E27FC236}">
                <a16:creationId xmlns:a16="http://schemas.microsoft.com/office/drawing/2014/main" id="{09269501-A43E-615D-DE2F-0410E2176DC6}"/>
              </a:ext>
            </a:extLst>
          </p:cNvPr>
          <p:cNvPicPr>
            <a:picLocks noGrp="1" noChangeAspect="1"/>
          </p:cNvPicPr>
          <p:nvPr>
            <p:ph idx="1"/>
          </p:nvPr>
        </p:nvPicPr>
        <p:blipFill>
          <a:blip r:embed="rId3"/>
          <a:stretch>
            <a:fillRect/>
          </a:stretch>
        </p:blipFill>
        <p:spPr>
          <a:xfrm>
            <a:off x="1616797" y="50746"/>
            <a:ext cx="8958405" cy="6756508"/>
          </a:xfrm>
        </p:spPr>
      </p:pic>
    </p:spTree>
    <p:extLst>
      <p:ext uri="{BB962C8B-B14F-4D97-AF65-F5344CB8AC3E}">
        <p14:creationId xmlns:p14="http://schemas.microsoft.com/office/powerpoint/2010/main" val="3869096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F0491-4802-3948-83B7-474F97C1A429}"/>
              </a:ext>
            </a:extLst>
          </p:cNvPr>
          <p:cNvSpPr>
            <a:spLocks noGrp="1"/>
          </p:cNvSpPr>
          <p:nvPr>
            <p:ph type="title"/>
          </p:nvPr>
        </p:nvSpPr>
        <p:spPr/>
        <p:txBody>
          <a:bodyPr/>
          <a:lstStyle/>
          <a:p>
            <a:r>
              <a:rPr lang="en-IE" dirty="0"/>
              <a:t>Coupling &amp; Cohesion</a:t>
            </a:r>
          </a:p>
        </p:txBody>
      </p:sp>
      <p:sp>
        <p:nvSpPr>
          <p:cNvPr id="3" name="Content Placeholder 2">
            <a:extLst>
              <a:ext uri="{FF2B5EF4-FFF2-40B4-BE49-F238E27FC236}">
                <a16:creationId xmlns:a16="http://schemas.microsoft.com/office/drawing/2014/main" id="{039BF77C-664D-8B3D-41FF-26E08A0DEF2A}"/>
              </a:ext>
            </a:extLst>
          </p:cNvPr>
          <p:cNvSpPr>
            <a:spLocks noGrp="1"/>
          </p:cNvSpPr>
          <p:nvPr>
            <p:ph idx="1"/>
          </p:nvPr>
        </p:nvSpPr>
        <p:spPr/>
        <p:txBody>
          <a:bodyPr/>
          <a:lstStyle/>
          <a:p>
            <a:r>
              <a:rPr lang="en-IE" dirty="0"/>
              <a:t>These two concepts are used together to measure the quality of our code.</a:t>
            </a:r>
          </a:p>
          <a:p>
            <a:r>
              <a:rPr lang="en-IE" dirty="0"/>
              <a:t>They help ensure it is maintainable and scalable</a:t>
            </a:r>
          </a:p>
          <a:p>
            <a:endParaRPr lang="en-IE" dirty="0"/>
          </a:p>
        </p:txBody>
      </p:sp>
    </p:spTree>
    <p:extLst>
      <p:ext uri="{BB962C8B-B14F-4D97-AF65-F5344CB8AC3E}">
        <p14:creationId xmlns:p14="http://schemas.microsoft.com/office/powerpoint/2010/main" val="1320979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3C5B1-F27F-5FB1-6BBB-922EFA2D888A}"/>
              </a:ext>
            </a:extLst>
          </p:cNvPr>
          <p:cNvSpPr>
            <a:spLocks noGrp="1"/>
          </p:cNvSpPr>
          <p:nvPr>
            <p:ph type="title"/>
          </p:nvPr>
        </p:nvSpPr>
        <p:spPr/>
        <p:txBody>
          <a:bodyPr/>
          <a:lstStyle/>
          <a:p>
            <a:r>
              <a:rPr lang="en-IE" dirty="0"/>
              <a:t>Coupling…</a:t>
            </a:r>
          </a:p>
        </p:txBody>
      </p:sp>
      <p:sp>
        <p:nvSpPr>
          <p:cNvPr id="3" name="Content Placeholder 2">
            <a:extLst>
              <a:ext uri="{FF2B5EF4-FFF2-40B4-BE49-F238E27FC236}">
                <a16:creationId xmlns:a16="http://schemas.microsoft.com/office/drawing/2014/main" id="{EFD4056E-F20D-301E-4021-BA7A07BFA499}"/>
              </a:ext>
            </a:extLst>
          </p:cNvPr>
          <p:cNvSpPr>
            <a:spLocks noGrp="1"/>
          </p:cNvSpPr>
          <p:nvPr>
            <p:ph idx="1"/>
          </p:nvPr>
        </p:nvSpPr>
        <p:spPr/>
        <p:txBody>
          <a:bodyPr/>
          <a:lstStyle/>
          <a:p>
            <a:r>
              <a:rPr lang="en-IE" dirty="0"/>
              <a:t>Defines the degree of interdependence between software modules</a:t>
            </a:r>
          </a:p>
          <a:p>
            <a:r>
              <a:rPr lang="en-IE" b="1" dirty="0"/>
              <a:t>Tight Coupling</a:t>
            </a:r>
            <a:r>
              <a:rPr lang="en-IE" dirty="0"/>
              <a:t> means that modules are closely connected and that changes in one can affect other modules</a:t>
            </a:r>
          </a:p>
          <a:p>
            <a:r>
              <a:rPr lang="en-IE" b="1" dirty="0"/>
              <a:t>Loose Coupling</a:t>
            </a:r>
            <a:r>
              <a:rPr lang="en-IE" dirty="0"/>
              <a:t> means that modules are independent of each other and changes in one module have minimal impact on others</a:t>
            </a:r>
          </a:p>
          <a:p>
            <a:r>
              <a:rPr lang="en-IE" dirty="0"/>
              <a:t>Best practice in OOP is to achieve loose coupling</a:t>
            </a:r>
          </a:p>
        </p:txBody>
      </p:sp>
    </p:spTree>
    <p:extLst>
      <p:ext uri="{BB962C8B-B14F-4D97-AF65-F5344CB8AC3E}">
        <p14:creationId xmlns:p14="http://schemas.microsoft.com/office/powerpoint/2010/main" val="3287540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B595F-ABA8-5BED-6CD7-CA09DEE5A16C}"/>
              </a:ext>
            </a:extLst>
          </p:cNvPr>
          <p:cNvSpPr>
            <a:spLocks noGrp="1"/>
          </p:cNvSpPr>
          <p:nvPr>
            <p:ph type="title"/>
          </p:nvPr>
        </p:nvSpPr>
        <p:spPr/>
        <p:txBody>
          <a:bodyPr/>
          <a:lstStyle/>
          <a:p>
            <a:r>
              <a:rPr lang="en-IE" dirty="0"/>
              <a:t>Cohesion</a:t>
            </a:r>
          </a:p>
        </p:txBody>
      </p:sp>
      <p:sp>
        <p:nvSpPr>
          <p:cNvPr id="3" name="Content Placeholder 2">
            <a:extLst>
              <a:ext uri="{FF2B5EF4-FFF2-40B4-BE49-F238E27FC236}">
                <a16:creationId xmlns:a16="http://schemas.microsoft.com/office/drawing/2014/main" id="{4C0928F9-756D-FAB2-FEC6-DBE35A459984}"/>
              </a:ext>
            </a:extLst>
          </p:cNvPr>
          <p:cNvSpPr>
            <a:spLocks noGrp="1"/>
          </p:cNvSpPr>
          <p:nvPr>
            <p:ph idx="1"/>
          </p:nvPr>
        </p:nvSpPr>
        <p:spPr/>
        <p:txBody>
          <a:bodyPr/>
          <a:lstStyle/>
          <a:p>
            <a:r>
              <a:rPr lang="en-IE" dirty="0"/>
              <a:t>This defines how effectively elements within one module or object work together to fulfil a single well-defined purpose</a:t>
            </a:r>
          </a:p>
          <a:p>
            <a:r>
              <a:rPr lang="en-IE" dirty="0"/>
              <a:t>A High level of Cohesion means that elements within a module are tightly integrated and work together to achieve desired functionality</a:t>
            </a:r>
          </a:p>
        </p:txBody>
      </p:sp>
    </p:spTree>
    <p:extLst>
      <p:ext uri="{BB962C8B-B14F-4D97-AF65-F5344CB8AC3E}">
        <p14:creationId xmlns:p14="http://schemas.microsoft.com/office/powerpoint/2010/main" val="3942966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F98B-D5BA-00C8-8D29-258F9C80D7CB}"/>
              </a:ext>
            </a:extLst>
          </p:cNvPr>
          <p:cNvSpPr>
            <a:spLocks noGrp="1"/>
          </p:cNvSpPr>
          <p:nvPr>
            <p:ph type="title"/>
          </p:nvPr>
        </p:nvSpPr>
        <p:spPr/>
        <p:txBody>
          <a:bodyPr/>
          <a:lstStyle/>
          <a:p>
            <a:r>
              <a:rPr lang="en-IE" dirty="0"/>
              <a:t>Coupling…</a:t>
            </a:r>
          </a:p>
        </p:txBody>
      </p:sp>
      <p:sp>
        <p:nvSpPr>
          <p:cNvPr id="3" name="Content Placeholder 2">
            <a:extLst>
              <a:ext uri="{FF2B5EF4-FFF2-40B4-BE49-F238E27FC236}">
                <a16:creationId xmlns:a16="http://schemas.microsoft.com/office/drawing/2014/main" id="{324B4133-CCC8-6003-5462-8CFED2C4BD20}"/>
              </a:ext>
            </a:extLst>
          </p:cNvPr>
          <p:cNvSpPr>
            <a:spLocks noGrp="1"/>
          </p:cNvSpPr>
          <p:nvPr>
            <p:ph idx="1"/>
          </p:nvPr>
        </p:nvSpPr>
        <p:spPr/>
        <p:txBody>
          <a:bodyPr/>
          <a:lstStyle/>
          <a:p>
            <a:r>
              <a:rPr lang="en-IE" dirty="0"/>
              <a:t>Tight coupling is when classes or modules have many dependencies on each other.</a:t>
            </a:r>
          </a:p>
          <a:p>
            <a:r>
              <a:rPr lang="en-IE" dirty="0"/>
              <a:t>Changing code in one module has impacts on the operation of other modules</a:t>
            </a:r>
          </a:p>
          <a:p>
            <a:r>
              <a:rPr lang="en-IE" dirty="0"/>
              <a:t>If the modules are tightly coupled, then if we change how we gather and store data on students, then that can have significant impacts on the fees and grants operation in the University</a:t>
            </a:r>
          </a:p>
          <a:p>
            <a:r>
              <a:rPr lang="en-IE" dirty="0"/>
              <a:t>Traditionally many software systems were written an monolithic software systems where functions were very tightly coupled</a:t>
            </a:r>
          </a:p>
        </p:txBody>
      </p:sp>
    </p:spTree>
    <p:extLst>
      <p:ext uri="{BB962C8B-B14F-4D97-AF65-F5344CB8AC3E}">
        <p14:creationId xmlns:p14="http://schemas.microsoft.com/office/powerpoint/2010/main" val="494389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949D6-178C-D625-BCD2-74FE46B342A0}"/>
              </a:ext>
            </a:extLst>
          </p:cNvPr>
          <p:cNvSpPr>
            <a:spLocks noGrp="1"/>
          </p:cNvSpPr>
          <p:nvPr>
            <p:ph type="title"/>
          </p:nvPr>
        </p:nvSpPr>
        <p:spPr/>
        <p:txBody>
          <a:bodyPr/>
          <a:lstStyle/>
          <a:p>
            <a:r>
              <a:rPr lang="en-IE" dirty="0"/>
              <a:t>Coupling….</a:t>
            </a:r>
          </a:p>
        </p:txBody>
      </p:sp>
      <p:sp>
        <p:nvSpPr>
          <p:cNvPr id="3" name="Content Placeholder 2">
            <a:extLst>
              <a:ext uri="{FF2B5EF4-FFF2-40B4-BE49-F238E27FC236}">
                <a16:creationId xmlns:a16="http://schemas.microsoft.com/office/drawing/2014/main" id="{89061DD8-B4C8-FF81-66E3-E3FF54EA28A7}"/>
              </a:ext>
            </a:extLst>
          </p:cNvPr>
          <p:cNvSpPr>
            <a:spLocks noGrp="1"/>
          </p:cNvSpPr>
          <p:nvPr>
            <p:ph idx="1"/>
          </p:nvPr>
        </p:nvSpPr>
        <p:spPr/>
        <p:txBody>
          <a:bodyPr>
            <a:normAutofit/>
          </a:bodyPr>
          <a:lstStyle/>
          <a:p>
            <a:r>
              <a:rPr lang="en-IE" dirty="0"/>
              <a:t>Tight coupling</a:t>
            </a:r>
            <a:r>
              <a:rPr lang="en-IE" baseline="0" dirty="0"/>
              <a:t> makes it difficult to modify or extend our modules without affecting other modules</a:t>
            </a:r>
          </a:p>
          <a:p>
            <a:r>
              <a:rPr lang="en-IE" dirty="0"/>
              <a:t>This will lead to an increased risk of bugs and unintended side effects</a:t>
            </a:r>
          </a:p>
          <a:p>
            <a:r>
              <a:rPr lang="en-IE" dirty="0"/>
              <a:t>Deciding who is responsible for addressing the consequences is a challenge and the re-work can be very costly</a:t>
            </a:r>
          </a:p>
          <a:p>
            <a:endParaRPr lang="en-IE" dirty="0"/>
          </a:p>
          <a:p>
            <a:pPr marL="0" indent="0">
              <a:buNone/>
            </a:pPr>
            <a:endParaRPr lang="en-IE" dirty="0"/>
          </a:p>
          <a:p>
            <a:pPr marL="0" indent="0">
              <a:buNone/>
            </a:pPr>
            <a:r>
              <a:rPr lang="en-IE" sz="2000" dirty="0">
                <a:hlinkClick r:id="rId3"/>
              </a:rPr>
              <a:t>https://www.enjoyalgorithms.com/blog/cohesion-and-coupling-in-oops</a:t>
            </a:r>
            <a:endParaRPr lang="en-IE" sz="2000" dirty="0"/>
          </a:p>
          <a:p>
            <a:pPr marL="0" indent="0">
              <a:buNone/>
            </a:pPr>
            <a:endParaRPr lang="en-IE" dirty="0"/>
          </a:p>
        </p:txBody>
      </p:sp>
    </p:spTree>
    <p:extLst>
      <p:ext uri="{BB962C8B-B14F-4D97-AF65-F5344CB8AC3E}">
        <p14:creationId xmlns:p14="http://schemas.microsoft.com/office/powerpoint/2010/main" val="2122773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C586-A07A-6EB5-5086-03A64354563D}"/>
              </a:ext>
            </a:extLst>
          </p:cNvPr>
          <p:cNvSpPr>
            <a:spLocks noGrp="1"/>
          </p:cNvSpPr>
          <p:nvPr>
            <p:ph type="title"/>
          </p:nvPr>
        </p:nvSpPr>
        <p:spPr>
          <a:xfrm>
            <a:off x="838200" y="1"/>
            <a:ext cx="10515600" cy="969818"/>
          </a:xfrm>
        </p:spPr>
        <p:txBody>
          <a:bodyPr/>
          <a:lstStyle/>
          <a:p>
            <a:r>
              <a:rPr lang="en-IE" dirty="0"/>
              <a:t>Example</a:t>
            </a:r>
          </a:p>
        </p:txBody>
      </p:sp>
      <p:sp>
        <p:nvSpPr>
          <p:cNvPr id="3" name="Content Placeholder 2">
            <a:extLst>
              <a:ext uri="{FF2B5EF4-FFF2-40B4-BE49-F238E27FC236}">
                <a16:creationId xmlns:a16="http://schemas.microsoft.com/office/drawing/2014/main" id="{C4872912-B976-F01A-ED72-9A651B352B23}"/>
              </a:ext>
            </a:extLst>
          </p:cNvPr>
          <p:cNvSpPr>
            <a:spLocks noGrp="1"/>
          </p:cNvSpPr>
          <p:nvPr>
            <p:ph idx="1"/>
          </p:nvPr>
        </p:nvSpPr>
        <p:spPr>
          <a:xfrm>
            <a:off x="838200" y="969819"/>
            <a:ext cx="10515600" cy="5888180"/>
          </a:xfrm>
        </p:spPr>
        <p:txBody>
          <a:bodyPr>
            <a:normAutofit lnSpcReduction="10000"/>
          </a:bodyPr>
          <a:lstStyle/>
          <a:p>
            <a:pPr marL="0" indent="0">
              <a:buNone/>
            </a:pPr>
            <a:r>
              <a:rPr lang="en-IE" dirty="0">
                <a:latin typeface="Courier New" panose="02070309020205020404" pitchFamily="49" charset="0"/>
                <a:cs typeface="Courier New" panose="02070309020205020404" pitchFamily="49" charset="0"/>
              </a:rPr>
              <a:t>class Car {</a:t>
            </a:r>
          </a:p>
          <a:p>
            <a:pPr marL="0" indent="0">
              <a:buNone/>
            </a:pPr>
            <a:r>
              <a:rPr lang="en-IE" dirty="0">
                <a:latin typeface="Courier New" panose="02070309020205020404" pitchFamily="49" charset="0"/>
                <a:cs typeface="Courier New" panose="02070309020205020404" pitchFamily="49" charset="0"/>
              </a:rPr>
              <a:t>	private Engine engine;</a:t>
            </a:r>
          </a:p>
          <a:p>
            <a:pPr marL="0" indent="0">
              <a:buNone/>
            </a:pPr>
            <a:r>
              <a:rPr lang="en-IE" dirty="0">
                <a:latin typeface="Courier New" panose="02070309020205020404" pitchFamily="49" charset="0"/>
                <a:cs typeface="Courier New" panose="02070309020205020404" pitchFamily="49" charset="0"/>
              </a:rPr>
              <a:t>	public Car()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this.engine</a:t>
            </a:r>
            <a:r>
              <a:rPr lang="en-IE" dirty="0">
                <a:latin typeface="Courier New" panose="02070309020205020404" pitchFamily="49" charset="0"/>
                <a:cs typeface="Courier New" panose="02070309020205020404" pitchFamily="49" charset="0"/>
              </a:rPr>
              <a:t> = new Engine();</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public void start()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engine.start</a:t>
            </a:r>
            <a:r>
              <a:rPr lang="en-IE" dirty="0">
                <a:latin typeface="Courier New" panose="02070309020205020404" pitchFamily="49" charset="0"/>
                <a:cs typeface="Courier New" panose="02070309020205020404" pitchFamily="49" charset="0"/>
              </a:rPr>
              <a:t>();</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public stop()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engine.stop</a:t>
            </a:r>
            <a:r>
              <a:rPr lang="en-IE" dirty="0">
                <a:latin typeface="Courier New" panose="02070309020205020404" pitchFamily="49" charset="0"/>
                <a:cs typeface="Courier New" panose="02070309020205020404" pitchFamily="49" charset="0"/>
              </a:rPr>
              <a:t>();</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15296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9AE6E6-EBCB-565B-D753-17B6828915B1}"/>
              </a:ext>
            </a:extLst>
          </p:cNvPr>
          <p:cNvSpPr>
            <a:spLocks noGrp="1"/>
          </p:cNvSpPr>
          <p:nvPr>
            <p:ph idx="1"/>
          </p:nvPr>
        </p:nvSpPr>
        <p:spPr>
          <a:xfrm>
            <a:off x="838200" y="0"/>
            <a:ext cx="10515600" cy="6176963"/>
          </a:xfrm>
        </p:spPr>
        <p:txBody>
          <a:bodyPr/>
          <a:lstStyle/>
          <a:p>
            <a:pPr marL="0" indent="0">
              <a:buNone/>
            </a:pPr>
            <a:r>
              <a:rPr lang="en-IE" dirty="0">
                <a:latin typeface="Courier New" panose="02070309020205020404" pitchFamily="49" charset="0"/>
                <a:cs typeface="Courier New" panose="02070309020205020404" pitchFamily="49" charset="0"/>
              </a:rPr>
              <a:t>class Engine {</a:t>
            </a:r>
          </a:p>
          <a:p>
            <a:pPr marL="0" indent="0">
              <a:buNone/>
            </a:pPr>
            <a:r>
              <a:rPr lang="en-IE" dirty="0">
                <a:latin typeface="Courier New" panose="02070309020205020404" pitchFamily="49" charset="0"/>
                <a:cs typeface="Courier New" panose="02070309020205020404" pitchFamily="49" charset="0"/>
              </a:rPr>
              <a:t>	public void start() {</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public void stop() {</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69617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8DAFF-8734-BB59-2B74-1A62ADCAB901}"/>
              </a:ext>
            </a:extLst>
          </p:cNvPr>
          <p:cNvSpPr>
            <a:spLocks noGrp="1"/>
          </p:cNvSpPr>
          <p:nvPr>
            <p:ph type="title"/>
          </p:nvPr>
        </p:nvSpPr>
        <p:spPr/>
        <p:txBody>
          <a:bodyPr/>
          <a:lstStyle/>
          <a:p>
            <a:r>
              <a:rPr lang="en-IE" dirty="0"/>
              <a:t>Coupling</a:t>
            </a:r>
          </a:p>
        </p:txBody>
      </p:sp>
      <p:sp>
        <p:nvSpPr>
          <p:cNvPr id="3" name="Content Placeholder 2">
            <a:extLst>
              <a:ext uri="{FF2B5EF4-FFF2-40B4-BE49-F238E27FC236}">
                <a16:creationId xmlns:a16="http://schemas.microsoft.com/office/drawing/2014/main" id="{6913D36F-658D-500F-2045-C8125F3672A1}"/>
              </a:ext>
            </a:extLst>
          </p:cNvPr>
          <p:cNvSpPr>
            <a:spLocks noGrp="1"/>
          </p:cNvSpPr>
          <p:nvPr>
            <p:ph idx="1"/>
          </p:nvPr>
        </p:nvSpPr>
        <p:spPr/>
        <p:txBody>
          <a:bodyPr/>
          <a:lstStyle/>
          <a:p>
            <a:r>
              <a:rPr lang="en-IE" dirty="0"/>
              <a:t>Car has a</a:t>
            </a:r>
            <a:r>
              <a:rPr lang="en-IE" baseline="0" dirty="0"/>
              <a:t> d</a:t>
            </a:r>
            <a:r>
              <a:rPr lang="en-IE" dirty="0"/>
              <a:t>irect reference to the Engine class</a:t>
            </a:r>
            <a:r>
              <a:rPr lang="en-IE" baseline="0" dirty="0"/>
              <a:t> and calls the methods start() and stop directly on it.</a:t>
            </a:r>
          </a:p>
          <a:p>
            <a:r>
              <a:rPr lang="en-IE" dirty="0"/>
              <a:t>If we want to modify or extend Engine, we also need to consider how it will impact the Car class.</a:t>
            </a:r>
          </a:p>
          <a:p>
            <a:r>
              <a:rPr lang="en-IE" baseline="0" dirty="0"/>
              <a:t>If we change</a:t>
            </a:r>
            <a:r>
              <a:rPr lang="en-IE" dirty="0"/>
              <a:t> the method signatures of start or stop methods in class Engine, we need to change the corresponding method calls in Car class.</a:t>
            </a:r>
          </a:p>
          <a:p>
            <a:r>
              <a:rPr lang="en-IE" dirty="0"/>
              <a:t>If we want to add specific types of engine, like Electric Engine or Hybrid engine, then matters get more complex. </a:t>
            </a:r>
            <a:r>
              <a:rPr lang="en-IE" baseline="0" dirty="0"/>
              <a:t> </a:t>
            </a:r>
          </a:p>
        </p:txBody>
      </p:sp>
    </p:spTree>
    <p:extLst>
      <p:ext uri="{BB962C8B-B14F-4D97-AF65-F5344CB8AC3E}">
        <p14:creationId xmlns:p14="http://schemas.microsoft.com/office/powerpoint/2010/main" val="2928802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75FF8-3D51-7520-14A6-5B2A5A79F6FC}"/>
              </a:ext>
            </a:extLst>
          </p:cNvPr>
          <p:cNvSpPr>
            <a:spLocks noGrp="1"/>
          </p:cNvSpPr>
          <p:nvPr>
            <p:ph type="title"/>
          </p:nvPr>
        </p:nvSpPr>
        <p:spPr/>
        <p:txBody>
          <a:bodyPr/>
          <a:lstStyle/>
          <a:p>
            <a:r>
              <a:rPr lang="en-IE" dirty="0"/>
              <a:t>Loose Coupling</a:t>
            </a:r>
          </a:p>
        </p:txBody>
      </p:sp>
      <p:sp>
        <p:nvSpPr>
          <p:cNvPr id="3" name="Content Placeholder 2">
            <a:extLst>
              <a:ext uri="{FF2B5EF4-FFF2-40B4-BE49-F238E27FC236}">
                <a16:creationId xmlns:a16="http://schemas.microsoft.com/office/drawing/2014/main" id="{FFC3D105-12D2-EE9C-84C7-206F56D5765C}"/>
              </a:ext>
            </a:extLst>
          </p:cNvPr>
          <p:cNvSpPr>
            <a:spLocks noGrp="1"/>
          </p:cNvSpPr>
          <p:nvPr>
            <p:ph idx="1"/>
          </p:nvPr>
        </p:nvSpPr>
        <p:spPr/>
        <p:txBody>
          <a:bodyPr/>
          <a:lstStyle/>
          <a:p>
            <a:r>
              <a:rPr lang="en-IE" dirty="0"/>
              <a:t>Loose coupling is when classes or modules have minimal dependencies on each other and changes in one class are unlikely to affect the other.</a:t>
            </a:r>
          </a:p>
          <a:p>
            <a:r>
              <a:rPr lang="en-IE" dirty="0"/>
              <a:t>This makes our code modular and reduces the risk of bugs</a:t>
            </a:r>
          </a:p>
          <a:p>
            <a:r>
              <a:rPr lang="en-IE" dirty="0"/>
              <a:t>It makes the code easier to maintain </a:t>
            </a:r>
          </a:p>
        </p:txBody>
      </p:sp>
    </p:spTree>
    <p:extLst>
      <p:ext uri="{BB962C8B-B14F-4D97-AF65-F5344CB8AC3E}">
        <p14:creationId xmlns:p14="http://schemas.microsoft.com/office/powerpoint/2010/main" val="2447561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67921-4942-A533-BBEF-94437432BC21}"/>
              </a:ext>
            </a:extLst>
          </p:cNvPr>
          <p:cNvSpPr>
            <a:spLocks noGrp="1"/>
          </p:cNvSpPr>
          <p:nvPr>
            <p:ph type="title"/>
          </p:nvPr>
        </p:nvSpPr>
        <p:spPr/>
        <p:txBody>
          <a:bodyPr/>
          <a:lstStyle/>
          <a:p>
            <a:r>
              <a:rPr lang="en-IE" dirty="0"/>
              <a:t>Design Patterns</a:t>
            </a:r>
          </a:p>
        </p:txBody>
      </p:sp>
      <p:sp>
        <p:nvSpPr>
          <p:cNvPr id="3" name="Content Placeholder 2">
            <a:extLst>
              <a:ext uri="{FF2B5EF4-FFF2-40B4-BE49-F238E27FC236}">
                <a16:creationId xmlns:a16="http://schemas.microsoft.com/office/drawing/2014/main" id="{BF194C99-225C-5AE6-4A4A-72BFEAE5D647}"/>
              </a:ext>
            </a:extLst>
          </p:cNvPr>
          <p:cNvSpPr>
            <a:spLocks noGrp="1"/>
          </p:cNvSpPr>
          <p:nvPr>
            <p:ph idx="1"/>
          </p:nvPr>
        </p:nvSpPr>
        <p:spPr/>
        <p:txBody>
          <a:bodyPr>
            <a:normAutofit lnSpcReduction="10000"/>
          </a:bodyPr>
          <a:lstStyle/>
          <a:p>
            <a:r>
              <a:rPr lang="en-IE" dirty="0"/>
              <a:t>Design patterns are like well-known recipes for common problems in software development</a:t>
            </a:r>
          </a:p>
          <a:p>
            <a:r>
              <a:rPr lang="en-IE" dirty="0"/>
              <a:t>They’re not step-by-step instructions, but more like guidelines to help you solve these problems in a flexible and efficient way</a:t>
            </a:r>
          </a:p>
          <a:p>
            <a:r>
              <a:rPr lang="en-IE" dirty="0"/>
              <a:t>These patterns gather the wisdom of the software development community, making it easier for developers to work together and create software that’s easy to maintain, adapt, and reuse</a:t>
            </a:r>
          </a:p>
          <a:p>
            <a:endParaRPr lang="en-IE" dirty="0"/>
          </a:p>
          <a:p>
            <a:endParaRPr lang="en-IE" dirty="0"/>
          </a:p>
          <a:p>
            <a:r>
              <a:rPr lang="en-IE" sz="2000" dirty="0">
                <a:hlinkClick r:id="rId3"/>
              </a:rPr>
              <a:t>https://www.geeksforgeeks.org/design-patterns-in-object-oriented-programming-oop/</a:t>
            </a:r>
            <a:endParaRPr lang="en-IE" sz="2000" dirty="0"/>
          </a:p>
        </p:txBody>
      </p:sp>
    </p:spTree>
    <p:extLst>
      <p:ext uri="{BB962C8B-B14F-4D97-AF65-F5344CB8AC3E}">
        <p14:creationId xmlns:p14="http://schemas.microsoft.com/office/powerpoint/2010/main" val="39259465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51DD9-19E8-63DF-640F-A27A0790C723}"/>
              </a:ext>
            </a:extLst>
          </p:cNvPr>
          <p:cNvSpPr>
            <a:spLocks noGrp="1"/>
          </p:cNvSpPr>
          <p:nvPr>
            <p:ph type="title"/>
          </p:nvPr>
        </p:nvSpPr>
        <p:spPr/>
        <p:txBody>
          <a:bodyPr/>
          <a:lstStyle/>
          <a:p>
            <a:r>
              <a:rPr lang="en-IE" dirty="0"/>
              <a:t>Design Patterns</a:t>
            </a:r>
          </a:p>
        </p:txBody>
      </p:sp>
      <p:sp>
        <p:nvSpPr>
          <p:cNvPr id="3" name="Content Placeholder 2">
            <a:extLst>
              <a:ext uri="{FF2B5EF4-FFF2-40B4-BE49-F238E27FC236}">
                <a16:creationId xmlns:a16="http://schemas.microsoft.com/office/drawing/2014/main" id="{B26512AC-69BA-A457-EED5-1B1E3BB8E661}"/>
              </a:ext>
            </a:extLst>
          </p:cNvPr>
          <p:cNvSpPr>
            <a:spLocks noGrp="1"/>
          </p:cNvSpPr>
          <p:nvPr>
            <p:ph idx="1"/>
          </p:nvPr>
        </p:nvSpPr>
        <p:spPr/>
        <p:txBody>
          <a:bodyPr numCol="2">
            <a:normAutofit/>
          </a:bodyPr>
          <a:lstStyle/>
          <a:p>
            <a:r>
              <a:rPr lang="en-IE" dirty="0"/>
              <a:t>Singleton Pattern</a:t>
            </a:r>
          </a:p>
          <a:p>
            <a:r>
              <a:rPr lang="en-IE" dirty="0"/>
              <a:t>Factory Method Pattern</a:t>
            </a:r>
          </a:p>
          <a:p>
            <a:r>
              <a:rPr lang="en-IE" dirty="0"/>
              <a:t>Abstract Factory Method Pattern</a:t>
            </a:r>
          </a:p>
          <a:p>
            <a:r>
              <a:rPr lang="en-IE" dirty="0"/>
              <a:t>Builder Pattern</a:t>
            </a:r>
          </a:p>
          <a:p>
            <a:r>
              <a:rPr lang="en-IE" dirty="0"/>
              <a:t>Adapter Pattern</a:t>
            </a:r>
          </a:p>
          <a:p>
            <a:r>
              <a:rPr lang="en-IE" dirty="0"/>
              <a:t>Proxy Pattern</a:t>
            </a:r>
          </a:p>
          <a:p>
            <a:r>
              <a:rPr lang="en-IE" dirty="0"/>
              <a:t>Decorator Pattern</a:t>
            </a:r>
          </a:p>
          <a:p>
            <a:r>
              <a:rPr lang="en-IE" dirty="0"/>
              <a:t>Composite Pattern</a:t>
            </a:r>
          </a:p>
          <a:p>
            <a:r>
              <a:rPr lang="en-IE" dirty="0"/>
              <a:t>Observer Pattern</a:t>
            </a:r>
          </a:p>
          <a:p>
            <a:r>
              <a:rPr lang="en-IE" dirty="0"/>
              <a:t>Strategy Pattern</a:t>
            </a:r>
          </a:p>
          <a:p>
            <a:r>
              <a:rPr lang="en-IE" dirty="0"/>
              <a:t>Command Pattern</a:t>
            </a:r>
          </a:p>
          <a:p>
            <a:r>
              <a:rPr lang="en-IE" dirty="0"/>
              <a:t>State Pattern</a:t>
            </a:r>
          </a:p>
          <a:p>
            <a:r>
              <a:rPr lang="en-IE" dirty="0"/>
              <a:t>Template Method Pattern</a:t>
            </a:r>
          </a:p>
          <a:p>
            <a:r>
              <a:rPr lang="en-IE" dirty="0"/>
              <a:t>Visitor Pattern</a:t>
            </a:r>
          </a:p>
          <a:p>
            <a:r>
              <a:rPr lang="en-IE" dirty="0"/>
              <a:t>Memento Pattern</a:t>
            </a:r>
          </a:p>
        </p:txBody>
      </p:sp>
    </p:spTree>
    <p:extLst>
      <p:ext uri="{BB962C8B-B14F-4D97-AF65-F5344CB8AC3E}">
        <p14:creationId xmlns:p14="http://schemas.microsoft.com/office/powerpoint/2010/main" val="4199768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4B28-8E73-6437-BCF2-B124F65DF16F}"/>
              </a:ext>
            </a:extLst>
          </p:cNvPr>
          <p:cNvSpPr>
            <a:spLocks noGrp="1"/>
          </p:cNvSpPr>
          <p:nvPr>
            <p:ph type="title"/>
          </p:nvPr>
        </p:nvSpPr>
        <p:spPr/>
        <p:txBody>
          <a:bodyPr/>
          <a:lstStyle/>
          <a:p>
            <a:r>
              <a:rPr lang="en-IE" dirty="0"/>
              <a:t>Loose Coupling</a:t>
            </a:r>
          </a:p>
        </p:txBody>
      </p:sp>
      <p:sp>
        <p:nvSpPr>
          <p:cNvPr id="3" name="Content Placeholder 2">
            <a:extLst>
              <a:ext uri="{FF2B5EF4-FFF2-40B4-BE49-F238E27FC236}">
                <a16:creationId xmlns:a16="http://schemas.microsoft.com/office/drawing/2014/main" id="{CD5E5865-9CF5-04D1-8106-471A92BBEF03}"/>
              </a:ext>
            </a:extLst>
          </p:cNvPr>
          <p:cNvSpPr>
            <a:spLocks noGrp="1"/>
          </p:cNvSpPr>
          <p:nvPr>
            <p:ph idx="1"/>
          </p:nvPr>
        </p:nvSpPr>
        <p:spPr/>
        <p:txBody>
          <a:bodyPr/>
          <a:lstStyle/>
          <a:p>
            <a:r>
              <a:rPr lang="en-IE" dirty="0"/>
              <a:t>We can overcome the challenges of tight coupling using certain Design Patterns,</a:t>
            </a:r>
            <a:r>
              <a:rPr lang="en-IE" baseline="0" dirty="0"/>
              <a:t> such as Dependency Injection (DI) </a:t>
            </a:r>
          </a:p>
          <a:p>
            <a:pPr lvl="1"/>
            <a:r>
              <a:rPr lang="en-IE" dirty="0">
                <a:hlinkClick r:id="rId3"/>
              </a:rPr>
              <a:t>https://www.geeksforgeeks.org/dependency-injectiondi-design-pattern/</a:t>
            </a:r>
            <a:endParaRPr lang="en-IE" dirty="0"/>
          </a:p>
          <a:p>
            <a:r>
              <a:rPr lang="en-IE" dirty="0"/>
              <a:t>Or we can use interfaces to decouple dependencies between classes</a:t>
            </a:r>
          </a:p>
        </p:txBody>
      </p:sp>
    </p:spTree>
    <p:extLst>
      <p:ext uri="{BB962C8B-B14F-4D97-AF65-F5344CB8AC3E}">
        <p14:creationId xmlns:p14="http://schemas.microsoft.com/office/powerpoint/2010/main" val="599037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A113C-7FC1-A4D2-6C18-870331D96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F739A-3B64-8389-F8B8-0439AD0601EE}"/>
              </a:ext>
            </a:extLst>
          </p:cNvPr>
          <p:cNvSpPr>
            <a:spLocks noGrp="1"/>
          </p:cNvSpPr>
          <p:nvPr>
            <p:ph type="title"/>
          </p:nvPr>
        </p:nvSpPr>
        <p:spPr>
          <a:xfrm>
            <a:off x="838200" y="1"/>
            <a:ext cx="10515600" cy="969818"/>
          </a:xfrm>
        </p:spPr>
        <p:txBody>
          <a:bodyPr/>
          <a:lstStyle/>
          <a:p>
            <a:r>
              <a:rPr lang="en-IE" dirty="0"/>
              <a:t>Example</a:t>
            </a:r>
          </a:p>
        </p:txBody>
      </p:sp>
      <p:sp>
        <p:nvSpPr>
          <p:cNvPr id="3" name="Content Placeholder 2">
            <a:extLst>
              <a:ext uri="{FF2B5EF4-FFF2-40B4-BE49-F238E27FC236}">
                <a16:creationId xmlns:a16="http://schemas.microsoft.com/office/drawing/2014/main" id="{02301118-937E-5557-A923-690BDEBC109D}"/>
              </a:ext>
            </a:extLst>
          </p:cNvPr>
          <p:cNvSpPr>
            <a:spLocks noGrp="1"/>
          </p:cNvSpPr>
          <p:nvPr>
            <p:ph idx="1"/>
          </p:nvPr>
        </p:nvSpPr>
        <p:spPr>
          <a:xfrm>
            <a:off x="838200" y="969819"/>
            <a:ext cx="10515600" cy="5888180"/>
          </a:xfrm>
        </p:spPr>
        <p:txBody>
          <a:bodyPr>
            <a:normAutofit fontScale="92500" lnSpcReduction="10000"/>
          </a:bodyPr>
          <a:lstStyle/>
          <a:p>
            <a:pPr marL="0" indent="0">
              <a:buNone/>
            </a:pPr>
            <a:r>
              <a:rPr lang="en-IE" dirty="0">
                <a:latin typeface="Courier New" panose="02070309020205020404" pitchFamily="49" charset="0"/>
                <a:cs typeface="Courier New" panose="02070309020205020404" pitchFamily="49" charset="0"/>
              </a:rPr>
              <a:t>class Car {</a:t>
            </a:r>
          </a:p>
          <a:p>
            <a:pPr marL="0" indent="0">
              <a:buNone/>
            </a:pPr>
            <a:r>
              <a:rPr lang="en-IE" dirty="0">
                <a:latin typeface="Courier New" panose="02070309020205020404" pitchFamily="49" charset="0"/>
                <a:cs typeface="Courier New" panose="02070309020205020404" pitchFamily="49" charset="0"/>
              </a:rPr>
              <a:t>	private Engine engine;</a:t>
            </a:r>
          </a:p>
          <a:p>
            <a:pPr marL="0" indent="0">
              <a:buNone/>
            </a:pPr>
            <a:endParaRPr lang="en-IE" dirty="0">
              <a:latin typeface="Courier New" panose="02070309020205020404" pitchFamily="49" charset="0"/>
              <a:cs typeface="Courier New" panose="02070309020205020404" pitchFamily="49" charset="0"/>
            </a:endParaRPr>
          </a:p>
          <a:p>
            <a:pPr marL="0" indent="0">
              <a:buNone/>
            </a:pPr>
            <a:r>
              <a:rPr lang="en-IE" dirty="0">
                <a:latin typeface="Courier New" panose="02070309020205020404" pitchFamily="49" charset="0"/>
                <a:cs typeface="Courier New" panose="02070309020205020404" pitchFamily="49" charset="0"/>
              </a:rPr>
              <a:t>	public Car(Engine engine)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this.engine</a:t>
            </a:r>
            <a:r>
              <a:rPr lang="en-IE" dirty="0">
                <a:latin typeface="Courier New" panose="02070309020205020404" pitchFamily="49" charset="0"/>
                <a:cs typeface="Courier New" panose="02070309020205020404" pitchFamily="49" charset="0"/>
              </a:rPr>
              <a:t> = engine();</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public void start()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engine.start</a:t>
            </a:r>
            <a:r>
              <a:rPr lang="en-IE" dirty="0">
                <a:latin typeface="Courier New" panose="02070309020205020404" pitchFamily="49" charset="0"/>
                <a:cs typeface="Courier New" panose="02070309020205020404" pitchFamily="49" charset="0"/>
              </a:rPr>
              <a:t>();</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public stop()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engine.stop</a:t>
            </a:r>
            <a:r>
              <a:rPr lang="en-IE" dirty="0">
                <a:latin typeface="Courier New" panose="02070309020205020404" pitchFamily="49" charset="0"/>
                <a:cs typeface="Courier New" panose="02070309020205020404" pitchFamily="49" charset="0"/>
              </a:rPr>
              <a:t>();</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005495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9F2AC-8B8D-C891-1CDB-56BCEFB77C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487C43-F627-7F39-9C93-93D16DB7537B}"/>
              </a:ext>
            </a:extLst>
          </p:cNvPr>
          <p:cNvSpPr>
            <a:spLocks noGrp="1"/>
          </p:cNvSpPr>
          <p:nvPr>
            <p:ph idx="1"/>
          </p:nvPr>
        </p:nvSpPr>
        <p:spPr>
          <a:xfrm>
            <a:off x="838200" y="0"/>
            <a:ext cx="10515600" cy="6176963"/>
          </a:xfrm>
        </p:spPr>
        <p:txBody>
          <a:bodyPr>
            <a:normAutofit/>
          </a:bodyPr>
          <a:lstStyle/>
          <a:p>
            <a:pPr marL="0" indent="0">
              <a:buNone/>
            </a:pPr>
            <a:r>
              <a:rPr lang="en-IE" dirty="0">
                <a:latin typeface="Courier New" panose="02070309020205020404" pitchFamily="49" charset="0"/>
                <a:cs typeface="Courier New" panose="02070309020205020404" pitchFamily="49" charset="0"/>
              </a:rPr>
              <a:t>interface Engine {</a:t>
            </a:r>
          </a:p>
          <a:p>
            <a:pPr marL="0" indent="0">
              <a:buNone/>
            </a:pPr>
            <a:r>
              <a:rPr lang="en-IE" dirty="0">
                <a:latin typeface="Courier New" panose="02070309020205020404" pitchFamily="49" charset="0"/>
                <a:cs typeface="Courier New" panose="02070309020205020404" pitchFamily="49" charset="0"/>
              </a:rPr>
              <a:t>	void start();</a:t>
            </a:r>
          </a:p>
          <a:p>
            <a:pPr marL="0" indent="0">
              <a:buNone/>
            </a:pPr>
            <a:r>
              <a:rPr lang="en-IE" dirty="0">
                <a:latin typeface="Courier New" panose="02070309020205020404" pitchFamily="49" charset="0"/>
                <a:cs typeface="Courier New" panose="02070309020205020404" pitchFamily="49" charset="0"/>
              </a:rPr>
              <a:t>	void stop();</a:t>
            </a:r>
          </a:p>
          <a:p>
            <a:pPr marL="0" indent="0">
              <a:buNone/>
            </a:pPr>
            <a:r>
              <a:rPr lang="en-IE"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562571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D5C0F2-E984-BE3B-A3F7-3402C21911AF}"/>
              </a:ext>
            </a:extLst>
          </p:cNvPr>
          <p:cNvSpPr>
            <a:spLocks noGrp="1"/>
          </p:cNvSpPr>
          <p:nvPr>
            <p:ph idx="1"/>
          </p:nvPr>
        </p:nvSpPr>
        <p:spPr>
          <a:xfrm>
            <a:off x="838200" y="346364"/>
            <a:ext cx="10515600" cy="5830599"/>
          </a:xfrm>
        </p:spPr>
        <p:txBody>
          <a:bodyPr/>
          <a:lstStyle/>
          <a:p>
            <a:pPr marL="0" indent="0">
              <a:buNone/>
            </a:pPr>
            <a:r>
              <a:rPr lang="en-IE" dirty="0">
                <a:latin typeface="Courier New" panose="02070309020205020404" pitchFamily="49" charset="0"/>
                <a:cs typeface="Courier New" panose="02070309020205020404" pitchFamily="49" charset="0"/>
              </a:rPr>
              <a:t>class </a:t>
            </a:r>
            <a:r>
              <a:rPr lang="en-IE" dirty="0" err="1">
                <a:latin typeface="Courier New" panose="02070309020205020404" pitchFamily="49" charset="0"/>
                <a:cs typeface="Courier New" panose="02070309020205020404" pitchFamily="49" charset="0"/>
              </a:rPr>
              <a:t>DieselEngine</a:t>
            </a:r>
            <a:r>
              <a:rPr lang="en-IE" dirty="0">
                <a:latin typeface="Courier New" panose="02070309020205020404" pitchFamily="49" charset="0"/>
                <a:cs typeface="Courier New" panose="02070309020205020404" pitchFamily="49" charset="0"/>
              </a:rPr>
              <a:t> implements Engine {</a:t>
            </a:r>
          </a:p>
          <a:p>
            <a:pPr marL="0" indent="0">
              <a:buNone/>
            </a:pPr>
            <a:r>
              <a:rPr lang="en-IE" dirty="0">
                <a:latin typeface="Courier New" panose="02070309020205020404" pitchFamily="49" charset="0"/>
                <a:cs typeface="Courier New" panose="02070309020205020404" pitchFamily="49" charset="0"/>
              </a:rPr>
              <a:t>	private Engine engine;</a:t>
            </a:r>
          </a:p>
          <a:p>
            <a:pPr marL="0" indent="0">
              <a:buNone/>
            </a:pPr>
            <a:r>
              <a:rPr lang="en-IE" dirty="0">
                <a:latin typeface="Courier New" panose="02070309020205020404" pitchFamily="49" charset="0"/>
                <a:cs typeface="Courier New" panose="02070309020205020404" pitchFamily="49" charset="0"/>
              </a:rPr>
              <a:t>	public car(Engine engine)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this.engine</a:t>
            </a:r>
            <a:r>
              <a:rPr lang="en-IE" dirty="0">
                <a:latin typeface="Courier New" panose="02070309020205020404" pitchFamily="49" charset="0"/>
                <a:cs typeface="Courier New" panose="02070309020205020404" pitchFamily="49" charset="0"/>
              </a:rPr>
              <a:t> = engine;</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public void start()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engine.start</a:t>
            </a:r>
            <a:r>
              <a:rPr lang="en-IE" dirty="0">
                <a:latin typeface="Courier New" panose="02070309020205020404" pitchFamily="49" charset="0"/>
                <a:cs typeface="Courier New" panose="02070309020205020404" pitchFamily="49" charset="0"/>
              </a:rPr>
              <a:t>();</a:t>
            </a:r>
          </a:p>
          <a:p>
            <a:pPr marL="0" indent="0">
              <a:buNone/>
            </a:pPr>
            <a:r>
              <a:rPr lang="en-IE" dirty="0">
                <a:latin typeface="Courier New" panose="02070309020205020404" pitchFamily="49" charset="0"/>
                <a:cs typeface="Courier New" panose="02070309020205020404" pitchFamily="49" charset="0"/>
              </a:rPr>
              <a:t>	}</a:t>
            </a:r>
          </a:p>
          <a:p>
            <a:pPr marL="0" indent="0">
              <a:buNone/>
            </a:pPr>
            <a:r>
              <a:rPr lang="en-IE" dirty="0">
                <a:latin typeface="Courier New" panose="02070309020205020404" pitchFamily="49" charset="0"/>
                <a:cs typeface="Courier New" panose="02070309020205020404" pitchFamily="49" charset="0"/>
              </a:rPr>
              <a:t>	public void stop() {</a:t>
            </a:r>
          </a:p>
          <a:p>
            <a:pPr marL="0" indent="0">
              <a:buNone/>
            </a:pPr>
            <a:r>
              <a:rPr lang="en-IE" dirty="0">
                <a:latin typeface="Courier New" panose="02070309020205020404" pitchFamily="49" charset="0"/>
                <a:cs typeface="Courier New" panose="02070309020205020404" pitchFamily="49" charset="0"/>
              </a:rPr>
              <a:t>		</a:t>
            </a:r>
            <a:r>
              <a:rPr lang="en-IE" dirty="0" err="1">
                <a:latin typeface="Courier New" panose="02070309020205020404" pitchFamily="49" charset="0"/>
                <a:cs typeface="Courier New" panose="02070309020205020404" pitchFamily="49" charset="0"/>
              </a:rPr>
              <a:t>engine.stop</a:t>
            </a:r>
            <a:r>
              <a:rPr lang="en-IE" dirty="0">
                <a:latin typeface="Courier New" panose="02070309020205020404" pitchFamily="49" charset="0"/>
                <a:cs typeface="Courier New" panose="02070309020205020404" pitchFamily="49" charset="0"/>
              </a:rPr>
              <a:t>();</a:t>
            </a:r>
          </a:p>
          <a:p>
            <a:pPr marL="0" indent="0">
              <a:buNone/>
            </a:pPr>
            <a:r>
              <a:rPr lang="en-IE"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953938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AF29C-9DF0-E32E-DB7D-17D8E5AC93EF}"/>
              </a:ext>
            </a:extLst>
          </p:cNvPr>
          <p:cNvSpPr>
            <a:spLocks noGrp="1"/>
          </p:cNvSpPr>
          <p:nvPr>
            <p:ph type="title"/>
          </p:nvPr>
        </p:nvSpPr>
        <p:spPr/>
        <p:txBody>
          <a:bodyPr/>
          <a:lstStyle/>
          <a:p>
            <a:r>
              <a:rPr lang="en-IE" dirty="0"/>
              <a:t>Interfaces</a:t>
            </a:r>
          </a:p>
        </p:txBody>
      </p:sp>
      <p:sp>
        <p:nvSpPr>
          <p:cNvPr id="3" name="Content Placeholder 2">
            <a:extLst>
              <a:ext uri="{FF2B5EF4-FFF2-40B4-BE49-F238E27FC236}">
                <a16:creationId xmlns:a16="http://schemas.microsoft.com/office/drawing/2014/main" id="{9DAFF795-725E-289F-0E1E-11073ACD4415}"/>
              </a:ext>
            </a:extLst>
          </p:cNvPr>
          <p:cNvSpPr>
            <a:spLocks noGrp="1"/>
          </p:cNvSpPr>
          <p:nvPr>
            <p:ph idx="1"/>
          </p:nvPr>
        </p:nvSpPr>
        <p:spPr/>
        <p:txBody>
          <a:bodyPr>
            <a:normAutofit fontScale="92500" lnSpcReduction="20000"/>
          </a:bodyPr>
          <a:lstStyle/>
          <a:p>
            <a:r>
              <a:rPr lang="en-IE" dirty="0"/>
              <a:t>This can help us to create many concrete implementations of Engine</a:t>
            </a:r>
            <a:r>
              <a:rPr lang="en-IE" baseline="0" dirty="0"/>
              <a:t> interface, each with its own unique behaviour.</a:t>
            </a:r>
          </a:p>
          <a:p>
            <a:r>
              <a:rPr lang="en-IE" baseline="0" dirty="0"/>
              <a:t>Electric Engine</a:t>
            </a:r>
          </a:p>
          <a:p>
            <a:r>
              <a:rPr lang="en-IE" baseline="0" dirty="0"/>
              <a:t>Diesel Engine</a:t>
            </a:r>
          </a:p>
          <a:p>
            <a:r>
              <a:rPr lang="en-IE" baseline="0" dirty="0"/>
              <a:t>Hybrid Engine</a:t>
            </a:r>
          </a:p>
          <a:p>
            <a:r>
              <a:rPr lang="en-IE" baseline="0" dirty="0"/>
              <a:t>Car class now depends on the interface Engine (less likely to change) not on a specific implementation of the Engine (or a sub-class)</a:t>
            </a:r>
          </a:p>
          <a:p>
            <a:r>
              <a:rPr lang="en-IE" baseline="0" dirty="0"/>
              <a:t>When we create an instance of the Car class, we pass in an instance of the Engine interface.</a:t>
            </a:r>
          </a:p>
          <a:p>
            <a:r>
              <a:rPr lang="en-IE" baseline="0" dirty="0"/>
              <a:t>This also allows us to create instances of the Car class with different types of engines, without having to modify the Car class itself.</a:t>
            </a:r>
            <a:r>
              <a:rPr lang="en-IE" dirty="0"/>
              <a:t> </a:t>
            </a:r>
          </a:p>
        </p:txBody>
      </p:sp>
    </p:spTree>
    <p:extLst>
      <p:ext uri="{BB962C8B-B14F-4D97-AF65-F5344CB8AC3E}">
        <p14:creationId xmlns:p14="http://schemas.microsoft.com/office/powerpoint/2010/main" val="41102749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032DB-F915-6CDE-8406-869A110B00CD}"/>
              </a:ext>
            </a:extLst>
          </p:cNvPr>
          <p:cNvSpPr>
            <a:spLocks noGrp="1"/>
          </p:cNvSpPr>
          <p:nvPr>
            <p:ph type="title"/>
          </p:nvPr>
        </p:nvSpPr>
        <p:spPr/>
        <p:txBody>
          <a:bodyPr/>
          <a:lstStyle/>
          <a:p>
            <a:r>
              <a:rPr lang="en-IE" dirty="0"/>
              <a:t>Interfaces</a:t>
            </a:r>
          </a:p>
        </p:txBody>
      </p:sp>
      <p:sp>
        <p:nvSpPr>
          <p:cNvPr id="3" name="Content Placeholder 2">
            <a:extLst>
              <a:ext uri="{FF2B5EF4-FFF2-40B4-BE49-F238E27FC236}">
                <a16:creationId xmlns:a16="http://schemas.microsoft.com/office/drawing/2014/main" id="{E5763BD9-097E-D345-88D0-999C8A6D6B05}"/>
              </a:ext>
            </a:extLst>
          </p:cNvPr>
          <p:cNvSpPr>
            <a:spLocks noGrp="1"/>
          </p:cNvSpPr>
          <p:nvPr>
            <p:ph idx="1"/>
          </p:nvPr>
        </p:nvSpPr>
        <p:spPr/>
        <p:txBody>
          <a:bodyPr/>
          <a:lstStyle/>
          <a:p>
            <a:r>
              <a:rPr lang="en-IE" dirty="0"/>
              <a:t>This makes each class easier to modify or extend without having to modify the other.</a:t>
            </a:r>
          </a:p>
          <a:p>
            <a:r>
              <a:rPr lang="en-IE" dirty="0"/>
              <a:t>If</a:t>
            </a:r>
            <a:r>
              <a:rPr lang="en-IE" baseline="0" dirty="0"/>
              <a:t> we want to add new methods to the Engine Interface, we can do so without having to </a:t>
            </a:r>
            <a:r>
              <a:rPr lang="en-IE" dirty="0"/>
              <a:t>m</a:t>
            </a:r>
            <a:r>
              <a:rPr lang="en-IE" baseline="0" dirty="0"/>
              <a:t>odify the Car class.</a:t>
            </a:r>
          </a:p>
          <a:p>
            <a:r>
              <a:rPr lang="en-IE" baseline="0" dirty="0"/>
              <a:t>If we want to modify the behaviour of the </a:t>
            </a:r>
            <a:r>
              <a:rPr lang="en-IE" baseline="0" dirty="0" err="1"/>
              <a:t>ConcreteEngine</a:t>
            </a:r>
            <a:r>
              <a:rPr lang="en-IE" baseline="0" dirty="0"/>
              <a:t> class we can do so without having to modify the Car class. </a:t>
            </a:r>
          </a:p>
        </p:txBody>
      </p:sp>
    </p:spTree>
    <p:extLst>
      <p:ext uri="{BB962C8B-B14F-4D97-AF65-F5344CB8AC3E}">
        <p14:creationId xmlns:p14="http://schemas.microsoft.com/office/powerpoint/2010/main" val="4219210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1A2CF-7488-C57C-7F37-2BF2D637A9A3}"/>
              </a:ext>
            </a:extLst>
          </p:cNvPr>
          <p:cNvSpPr>
            <a:spLocks noGrp="1"/>
          </p:cNvSpPr>
          <p:nvPr>
            <p:ph type="title"/>
          </p:nvPr>
        </p:nvSpPr>
        <p:spPr/>
        <p:txBody>
          <a:bodyPr/>
          <a:lstStyle/>
          <a:p>
            <a:r>
              <a:rPr lang="en-IE" dirty="0"/>
              <a:t>Types</a:t>
            </a:r>
            <a:r>
              <a:rPr lang="en-IE" baseline="0" dirty="0"/>
              <a:t> of Coupling</a:t>
            </a:r>
            <a:endParaRPr lang="en-IE" dirty="0"/>
          </a:p>
        </p:txBody>
      </p:sp>
      <p:sp>
        <p:nvSpPr>
          <p:cNvPr id="3" name="Content Placeholder 2">
            <a:extLst>
              <a:ext uri="{FF2B5EF4-FFF2-40B4-BE49-F238E27FC236}">
                <a16:creationId xmlns:a16="http://schemas.microsoft.com/office/drawing/2014/main" id="{650E5708-76EC-9521-619F-2A82F0FA74DB}"/>
              </a:ext>
            </a:extLst>
          </p:cNvPr>
          <p:cNvSpPr>
            <a:spLocks noGrp="1"/>
          </p:cNvSpPr>
          <p:nvPr>
            <p:ph idx="1"/>
          </p:nvPr>
        </p:nvSpPr>
        <p:spPr/>
        <p:txBody>
          <a:bodyPr/>
          <a:lstStyle/>
          <a:p>
            <a:r>
              <a:rPr lang="en-IE" dirty="0"/>
              <a:t>Content</a:t>
            </a:r>
            <a:r>
              <a:rPr lang="en-IE" baseline="0" dirty="0"/>
              <a:t> Coupling</a:t>
            </a:r>
          </a:p>
          <a:p>
            <a:pPr lvl="1"/>
            <a:r>
              <a:rPr lang="en-IE" baseline="0" dirty="0"/>
              <a:t>When a module relies on the internal details of another module</a:t>
            </a:r>
          </a:p>
          <a:p>
            <a:pPr lvl="0"/>
            <a:r>
              <a:rPr lang="en-IE" baseline="0" dirty="0"/>
              <a:t>Control Coupling</a:t>
            </a:r>
          </a:p>
          <a:p>
            <a:pPr lvl="1"/>
            <a:r>
              <a:rPr lang="en-IE" baseline="0" dirty="0"/>
              <a:t>When a module controls the flow of control in another module</a:t>
            </a:r>
          </a:p>
          <a:p>
            <a:pPr lvl="0"/>
            <a:r>
              <a:rPr lang="en-IE" baseline="0" dirty="0"/>
              <a:t>Data Coupling</a:t>
            </a:r>
          </a:p>
          <a:p>
            <a:pPr lvl="1"/>
            <a:r>
              <a:rPr lang="en-IE" baseline="0" dirty="0"/>
              <a:t>When one module passes data to another module without knowing its internal structure</a:t>
            </a:r>
          </a:p>
          <a:p>
            <a:pPr lvl="0"/>
            <a:r>
              <a:rPr lang="en-IE" baseline="0" dirty="0"/>
              <a:t>Stamp Coupling</a:t>
            </a:r>
          </a:p>
          <a:p>
            <a:pPr lvl="1"/>
            <a:r>
              <a:rPr lang="en-IE" baseline="0" dirty="0"/>
              <a:t>When one module uses only one part of the other module’s state</a:t>
            </a:r>
          </a:p>
        </p:txBody>
      </p:sp>
    </p:spTree>
    <p:extLst>
      <p:ext uri="{BB962C8B-B14F-4D97-AF65-F5344CB8AC3E}">
        <p14:creationId xmlns:p14="http://schemas.microsoft.com/office/powerpoint/2010/main" val="20148990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B311D-AA23-AD40-9B2F-59626EBF6D71}"/>
              </a:ext>
            </a:extLst>
          </p:cNvPr>
          <p:cNvSpPr>
            <a:spLocks noGrp="1"/>
          </p:cNvSpPr>
          <p:nvPr>
            <p:ph type="title"/>
          </p:nvPr>
        </p:nvSpPr>
        <p:spPr/>
        <p:txBody>
          <a:bodyPr/>
          <a:lstStyle/>
          <a:p>
            <a:r>
              <a:rPr lang="en-IE" dirty="0"/>
              <a:t>Types of Coupling…</a:t>
            </a:r>
          </a:p>
        </p:txBody>
      </p:sp>
      <p:sp>
        <p:nvSpPr>
          <p:cNvPr id="3" name="Content Placeholder 2">
            <a:extLst>
              <a:ext uri="{FF2B5EF4-FFF2-40B4-BE49-F238E27FC236}">
                <a16:creationId xmlns:a16="http://schemas.microsoft.com/office/drawing/2014/main" id="{99A068BF-F9FC-EB60-3B46-5F26EEAD3829}"/>
              </a:ext>
            </a:extLst>
          </p:cNvPr>
          <p:cNvSpPr>
            <a:spLocks noGrp="1"/>
          </p:cNvSpPr>
          <p:nvPr>
            <p:ph idx="1"/>
          </p:nvPr>
        </p:nvSpPr>
        <p:spPr/>
        <p:txBody>
          <a:bodyPr/>
          <a:lstStyle/>
          <a:p>
            <a:r>
              <a:rPr lang="en-IE" dirty="0"/>
              <a:t>Common Coupling</a:t>
            </a:r>
          </a:p>
          <a:p>
            <a:pPr lvl="1"/>
            <a:r>
              <a:rPr lang="en-IE" dirty="0"/>
              <a:t>When multiple modules share</a:t>
            </a:r>
            <a:r>
              <a:rPr lang="en-IE" baseline="0" dirty="0"/>
              <a:t> a common data structure</a:t>
            </a:r>
          </a:p>
          <a:p>
            <a:pPr lvl="0"/>
            <a:r>
              <a:rPr lang="en-IE" dirty="0"/>
              <a:t>External Coupling</a:t>
            </a:r>
          </a:p>
          <a:p>
            <a:pPr lvl="1"/>
            <a:r>
              <a:rPr lang="en-IE" dirty="0"/>
              <a:t>When a module depends on external resources such as files or databases</a:t>
            </a:r>
          </a:p>
          <a:p>
            <a:pPr lvl="0"/>
            <a:r>
              <a:rPr lang="en-IE" dirty="0"/>
              <a:t>Message Coupling</a:t>
            </a:r>
          </a:p>
          <a:p>
            <a:pPr lvl="1"/>
            <a:r>
              <a:rPr lang="en-IE" dirty="0"/>
              <a:t>When modules communicate with each other through messages</a:t>
            </a:r>
          </a:p>
        </p:txBody>
      </p:sp>
    </p:spTree>
    <p:extLst>
      <p:ext uri="{BB962C8B-B14F-4D97-AF65-F5344CB8AC3E}">
        <p14:creationId xmlns:p14="http://schemas.microsoft.com/office/powerpoint/2010/main" val="31662174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hospital management&#10;&#10;Description automatically generated">
            <a:extLst>
              <a:ext uri="{FF2B5EF4-FFF2-40B4-BE49-F238E27FC236}">
                <a16:creationId xmlns:a16="http://schemas.microsoft.com/office/drawing/2014/main" id="{D0551A7F-32AD-7DC4-81A2-3C9A3D5E7BBC}"/>
              </a:ext>
            </a:extLst>
          </p:cNvPr>
          <p:cNvPicPr>
            <a:picLocks noGrp="1" noChangeAspect="1"/>
          </p:cNvPicPr>
          <p:nvPr>
            <p:ph idx="1"/>
          </p:nvPr>
        </p:nvPicPr>
        <p:blipFill>
          <a:blip r:embed="rId3"/>
          <a:stretch>
            <a:fillRect/>
          </a:stretch>
        </p:blipFill>
        <p:spPr>
          <a:xfrm>
            <a:off x="2616993" y="39926"/>
            <a:ext cx="6958013" cy="6778147"/>
          </a:xfrm>
        </p:spPr>
      </p:pic>
      <p:sp>
        <p:nvSpPr>
          <p:cNvPr id="6" name="Title 5">
            <a:extLst>
              <a:ext uri="{FF2B5EF4-FFF2-40B4-BE49-F238E27FC236}">
                <a16:creationId xmlns:a16="http://schemas.microsoft.com/office/drawing/2014/main" id="{DA41F6D0-DFDB-599A-7006-174C20917524}"/>
              </a:ext>
            </a:extLst>
          </p:cNvPr>
          <p:cNvSpPr>
            <a:spLocks noGrp="1"/>
          </p:cNvSpPr>
          <p:nvPr>
            <p:ph type="title"/>
          </p:nvPr>
        </p:nvSpPr>
        <p:spPr/>
        <p:txBody>
          <a:bodyPr/>
          <a:lstStyle/>
          <a:p>
            <a:r>
              <a:rPr lang="en-IE" dirty="0">
                <a:noFill/>
              </a:rPr>
              <a:t>Hospital Management UML </a:t>
            </a:r>
            <a:r>
              <a:rPr lang="en-IE" dirty="0" err="1">
                <a:noFill/>
              </a:rPr>
              <a:t>DIagram</a:t>
            </a:r>
            <a:endParaRPr lang="en-IE" dirty="0">
              <a:noFill/>
            </a:endParaRPr>
          </a:p>
        </p:txBody>
      </p:sp>
    </p:spTree>
    <p:extLst>
      <p:ext uri="{BB962C8B-B14F-4D97-AF65-F5344CB8AC3E}">
        <p14:creationId xmlns:p14="http://schemas.microsoft.com/office/powerpoint/2010/main" val="15644109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diagram of a rectangular shape&#10;&#10;Description automatically generated">
            <a:extLst>
              <a:ext uri="{FF2B5EF4-FFF2-40B4-BE49-F238E27FC236}">
                <a16:creationId xmlns:a16="http://schemas.microsoft.com/office/drawing/2014/main" id="{DFE3EEF3-9268-4698-AE89-D4F311D551C8}"/>
              </a:ext>
            </a:extLst>
          </p:cNvPr>
          <p:cNvPicPr>
            <a:picLocks noGrp="1" noChangeAspect="1"/>
          </p:cNvPicPr>
          <p:nvPr>
            <p:ph idx="1"/>
          </p:nvPr>
        </p:nvPicPr>
        <p:blipFill>
          <a:blip r:embed="rId3"/>
          <a:stretch>
            <a:fillRect/>
          </a:stretch>
        </p:blipFill>
        <p:spPr>
          <a:xfrm>
            <a:off x="1088826" y="90884"/>
            <a:ext cx="10014347" cy="6676231"/>
          </a:xfrm>
        </p:spPr>
      </p:pic>
      <p:sp>
        <p:nvSpPr>
          <p:cNvPr id="6" name="Title 5">
            <a:extLst>
              <a:ext uri="{FF2B5EF4-FFF2-40B4-BE49-F238E27FC236}">
                <a16:creationId xmlns:a16="http://schemas.microsoft.com/office/drawing/2014/main" id="{C35995BB-1CF5-F9F8-CB1D-914B1FF181A0}"/>
              </a:ext>
            </a:extLst>
          </p:cNvPr>
          <p:cNvSpPr>
            <a:spLocks noGrp="1"/>
          </p:cNvSpPr>
          <p:nvPr>
            <p:ph type="title"/>
          </p:nvPr>
        </p:nvSpPr>
        <p:spPr/>
        <p:txBody>
          <a:bodyPr/>
          <a:lstStyle/>
          <a:p>
            <a:r>
              <a:rPr lang="en-IE" dirty="0">
                <a:noFill/>
              </a:rPr>
              <a:t>Polymorphism</a:t>
            </a:r>
          </a:p>
        </p:txBody>
      </p:sp>
    </p:spTree>
    <p:extLst>
      <p:ext uri="{BB962C8B-B14F-4D97-AF65-F5344CB8AC3E}">
        <p14:creationId xmlns:p14="http://schemas.microsoft.com/office/powerpoint/2010/main" val="1882724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lass&#10;&#10;Description automatically generated">
            <a:extLst>
              <a:ext uri="{FF2B5EF4-FFF2-40B4-BE49-F238E27FC236}">
                <a16:creationId xmlns:a16="http://schemas.microsoft.com/office/drawing/2014/main" id="{E8B3D0F2-5FB7-A75E-1FE1-546DB0EACD7F}"/>
              </a:ext>
            </a:extLst>
          </p:cNvPr>
          <p:cNvPicPr>
            <a:picLocks noGrp="1" noChangeAspect="1"/>
          </p:cNvPicPr>
          <p:nvPr>
            <p:ph idx="1"/>
          </p:nvPr>
        </p:nvPicPr>
        <p:blipFill>
          <a:blip r:embed="rId3"/>
          <a:stretch>
            <a:fillRect/>
          </a:stretch>
        </p:blipFill>
        <p:spPr>
          <a:xfrm>
            <a:off x="2066925" y="84868"/>
            <a:ext cx="8058149" cy="6688264"/>
          </a:xfrm>
        </p:spPr>
      </p:pic>
      <p:sp>
        <p:nvSpPr>
          <p:cNvPr id="6" name="Title 5">
            <a:extLst>
              <a:ext uri="{FF2B5EF4-FFF2-40B4-BE49-F238E27FC236}">
                <a16:creationId xmlns:a16="http://schemas.microsoft.com/office/drawing/2014/main" id="{02206AD8-F292-C0C8-37CE-30281BCBE512}"/>
              </a:ext>
            </a:extLst>
          </p:cNvPr>
          <p:cNvSpPr>
            <a:spLocks noGrp="1"/>
          </p:cNvSpPr>
          <p:nvPr>
            <p:ph type="title"/>
          </p:nvPr>
        </p:nvSpPr>
        <p:spPr/>
        <p:txBody>
          <a:bodyPr/>
          <a:lstStyle/>
          <a:p>
            <a:r>
              <a:rPr lang="en-IE" dirty="0">
                <a:noFill/>
              </a:rPr>
              <a:t>Inheritance</a:t>
            </a:r>
          </a:p>
        </p:txBody>
      </p:sp>
    </p:spTree>
    <p:extLst>
      <p:ext uri="{BB962C8B-B14F-4D97-AF65-F5344CB8AC3E}">
        <p14:creationId xmlns:p14="http://schemas.microsoft.com/office/powerpoint/2010/main" val="18363971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lass&#10;&#10;Description automatically generated">
            <a:extLst>
              <a:ext uri="{FF2B5EF4-FFF2-40B4-BE49-F238E27FC236}">
                <a16:creationId xmlns:a16="http://schemas.microsoft.com/office/drawing/2014/main" id="{442401E6-80F4-2616-B3DE-AC0A88F98DD9}"/>
              </a:ext>
            </a:extLst>
          </p:cNvPr>
          <p:cNvPicPr>
            <a:picLocks noGrp="1" noChangeAspect="1"/>
          </p:cNvPicPr>
          <p:nvPr>
            <p:ph idx="1"/>
          </p:nvPr>
        </p:nvPicPr>
        <p:blipFill>
          <a:blip r:embed="rId3"/>
          <a:stretch>
            <a:fillRect/>
          </a:stretch>
        </p:blipFill>
        <p:spPr>
          <a:xfrm>
            <a:off x="2056903" y="197722"/>
            <a:ext cx="8078193" cy="6462555"/>
          </a:xfrm>
        </p:spPr>
      </p:pic>
      <p:sp>
        <p:nvSpPr>
          <p:cNvPr id="6" name="Title 5">
            <a:extLst>
              <a:ext uri="{FF2B5EF4-FFF2-40B4-BE49-F238E27FC236}">
                <a16:creationId xmlns:a16="http://schemas.microsoft.com/office/drawing/2014/main" id="{8C76637E-E553-BFB9-4DCF-67574A8E335B}"/>
              </a:ext>
            </a:extLst>
          </p:cNvPr>
          <p:cNvSpPr>
            <a:spLocks noGrp="1"/>
          </p:cNvSpPr>
          <p:nvPr>
            <p:ph type="title"/>
          </p:nvPr>
        </p:nvSpPr>
        <p:spPr/>
        <p:txBody>
          <a:bodyPr/>
          <a:lstStyle/>
          <a:p>
            <a:r>
              <a:rPr lang="en-IE" dirty="0">
                <a:noFill/>
              </a:rPr>
              <a:t>Inheritance in C++</a:t>
            </a:r>
          </a:p>
        </p:txBody>
      </p:sp>
    </p:spTree>
    <p:extLst>
      <p:ext uri="{BB962C8B-B14F-4D97-AF65-F5344CB8AC3E}">
        <p14:creationId xmlns:p14="http://schemas.microsoft.com/office/powerpoint/2010/main" val="1486668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lass&#10;&#10;Description automatically generated">
            <a:extLst>
              <a:ext uri="{FF2B5EF4-FFF2-40B4-BE49-F238E27FC236}">
                <a16:creationId xmlns:a16="http://schemas.microsoft.com/office/drawing/2014/main" id="{D5EFAE32-8F0A-32B2-AF45-A6CF51B3B3EF}"/>
              </a:ext>
            </a:extLst>
          </p:cNvPr>
          <p:cNvPicPr>
            <a:picLocks noGrp="1" noChangeAspect="1"/>
          </p:cNvPicPr>
          <p:nvPr>
            <p:ph idx="1"/>
          </p:nvPr>
        </p:nvPicPr>
        <p:blipFill>
          <a:blip r:embed="rId3"/>
          <a:stretch>
            <a:fillRect/>
          </a:stretch>
        </p:blipFill>
        <p:spPr>
          <a:xfrm>
            <a:off x="3514726" y="37362"/>
            <a:ext cx="4429124" cy="6801582"/>
          </a:xfrm>
        </p:spPr>
      </p:pic>
      <p:sp>
        <p:nvSpPr>
          <p:cNvPr id="6" name="Title 5">
            <a:extLst>
              <a:ext uri="{FF2B5EF4-FFF2-40B4-BE49-F238E27FC236}">
                <a16:creationId xmlns:a16="http://schemas.microsoft.com/office/drawing/2014/main" id="{0EE0EFA4-8AFA-AFD6-7C5E-DFF0D453A553}"/>
              </a:ext>
            </a:extLst>
          </p:cNvPr>
          <p:cNvSpPr>
            <a:spLocks noGrp="1"/>
          </p:cNvSpPr>
          <p:nvPr>
            <p:ph type="title"/>
          </p:nvPr>
        </p:nvSpPr>
        <p:spPr/>
        <p:txBody>
          <a:bodyPr/>
          <a:lstStyle/>
          <a:p>
            <a:r>
              <a:rPr lang="en-IE" dirty="0">
                <a:noFill/>
              </a:rPr>
              <a:t>Inheritance Types</a:t>
            </a:r>
          </a:p>
        </p:txBody>
      </p:sp>
    </p:spTree>
    <p:extLst>
      <p:ext uri="{BB962C8B-B14F-4D97-AF65-F5344CB8AC3E}">
        <p14:creationId xmlns:p14="http://schemas.microsoft.com/office/powerpoint/2010/main" val="40535258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polymorphosis&#10;&#10;Description automatically generated">
            <a:extLst>
              <a:ext uri="{FF2B5EF4-FFF2-40B4-BE49-F238E27FC236}">
                <a16:creationId xmlns:a16="http://schemas.microsoft.com/office/drawing/2014/main" id="{4F41ABC0-F921-B055-DE32-383612F4F699}"/>
              </a:ext>
            </a:extLst>
          </p:cNvPr>
          <p:cNvPicPr>
            <a:picLocks noGrp="1" noChangeAspect="1"/>
          </p:cNvPicPr>
          <p:nvPr>
            <p:ph idx="1"/>
          </p:nvPr>
        </p:nvPicPr>
        <p:blipFill>
          <a:blip r:embed="rId3"/>
          <a:stretch>
            <a:fillRect/>
          </a:stretch>
        </p:blipFill>
        <p:spPr>
          <a:xfrm>
            <a:off x="1544501" y="0"/>
            <a:ext cx="9102997" cy="6858001"/>
          </a:xfrm>
        </p:spPr>
      </p:pic>
      <p:sp>
        <p:nvSpPr>
          <p:cNvPr id="6" name="Title 5">
            <a:extLst>
              <a:ext uri="{FF2B5EF4-FFF2-40B4-BE49-F238E27FC236}">
                <a16:creationId xmlns:a16="http://schemas.microsoft.com/office/drawing/2014/main" id="{EF801EFC-84D3-7A92-6BCF-BCA2336435AD}"/>
              </a:ext>
            </a:extLst>
          </p:cNvPr>
          <p:cNvSpPr>
            <a:spLocks noGrp="1"/>
          </p:cNvSpPr>
          <p:nvPr>
            <p:ph type="title"/>
          </p:nvPr>
        </p:nvSpPr>
        <p:spPr/>
        <p:txBody>
          <a:bodyPr/>
          <a:lstStyle/>
          <a:p>
            <a:r>
              <a:rPr lang="en-IE" dirty="0" err="1">
                <a:noFill/>
              </a:rPr>
              <a:t>Polymporphism</a:t>
            </a:r>
            <a:endParaRPr lang="en-IE" dirty="0">
              <a:noFill/>
            </a:endParaRPr>
          </a:p>
        </p:txBody>
      </p:sp>
    </p:spTree>
    <p:extLst>
      <p:ext uri="{BB962C8B-B14F-4D97-AF65-F5344CB8AC3E}">
        <p14:creationId xmlns:p14="http://schemas.microsoft.com/office/powerpoint/2010/main" val="36758998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789C3-2728-BB3D-44F9-B70FF4614A11}"/>
            </a:ext>
          </a:extLst>
        </p:cNvPr>
        <p:cNvGrpSpPr/>
        <p:nvPr/>
      </p:nvGrpSpPr>
      <p:grpSpPr>
        <a:xfrm>
          <a:off x="0" y="0"/>
          <a:ext cx="0" cy="0"/>
          <a:chOff x="0" y="0"/>
          <a:chExt cx="0" cy="0"/>
        </a:xfrm>
      </p:grpSpPr>
      <p:pic>
        <p:nvPicPr>
          <p:cNvPr id="5" name="Content Placeholder 4" descr="A diagram of hospital management&#10;&#10;Description automatically generated">
            <a:extLst>
              <a:ext uri="{FF2B5EF4-FFF2-40B4-BE49-F238E27FC236}">
                <a16:creationId xmlns:a16="http://schemas.microsoft.com/office/drawing/2014/main" id="{CA5E1619-4C2B-FA97-0A9D-59124D299744}"/>
              </a:ext>
            </a:extLst>
          </p:cNvPr>
          <p:cNvPicPr>
            <a:picLocks noGrp="1" noChangeAspect="1"/>
          </p:cNvPicPr>
          <p:nvPr>
            <p:ph idx="1"/>
          </p:nvPr>
        </p:nvPicPr>
        <p:blipFill>
          <a:blip r:embed="rId3"/>
          <a:stretch>
            <a:fillRect/>
          </a:stretch>
        </p:blipFill>
        <p:spPr>
          <a:xfrm>
            <a:off x="2616993" y="39926"/>
            <a:ext cx="6958013" cy="6778147"/>
          </a:xfrm>
        </p:spPr>
      </p:pic>
      <p:sp>
        <p:nvSpPr>
          <p:cNvPr id="2" name="Title 1">
            <a:extLst>
              <a:ext uri="{FF2B5EF4-FFF2-40B4-BE49-F238E27FC236}">
                <a16:creationId xmlns:a16="http://schemas.microsoft.com/office/drawing/2014/main" id="{E508263A-BF42-E996-9C5C-F9C077C4B370}"/>
              </a:ext>
            </a:extLst>
          </p:cNvPr>
          <p:cNvSpPr>
            <a:spLocks noGrp="1"/>
          </p:cNvSpPr>
          <p:nvPr>
            <p:ph type="title"/>
          </p:nvPr>
        </p:nvSpPr>
        <p:spPr/>
        <p:txBody>
          <a:bodyPr/>
          <a:lstStyle/>
          <a:p>
            <a:r>
              <a:rPr lang="en-IE" dirty="0">
                <a:noFill/>
              </a:rPr>
              <a:t>Hospital Management UML Diagram</a:t>
            </a:r>
          </a:p>
        </p:txBody>
      </p:sp>
    </p:spTree>
    <p:extLst>
      <p:ext uri="{BB962C8B-B14F-4D97-AF65-F5344CB8AC3E}">
        <p14:creationId xmlns:p14="http://schemas.microsoft.com/office/powerpoint/2010/main" val="17984987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C650F-6E5F-A913-6E2D-47F157859E42}"/>
              </a:ext>
            </a:extLst>
          </p:cNvPr>
          <p:cNvSpPr>
            <a:spLocks noGrp="1"/>
          </p:cNvSpPr>
          <p:nvPr>
            <p:ph type="title"/>
          </p:nvPr>
        </p:nvSpPr>
        <p:spPr/>
        <p:txBody>
          <a:bodyPr/>
          <a:lstStyle/>
          <a:p>
            <a:r>
              <a:rPr lang="en-IE" dirty="0"/>
              <a:t>Visibility Modifiers in Java</a:t>
            </a:r>
          </a:p>
        </p:txBody>
      </p:sp>
      <p:sp>
        <p:nvSpPr>
          <p:cNvPr id="3" name="Content Placeholder 2">
            <a:extLst>
              <a:ext uri="{FF2B5EF4-FFF2-40B4-BE49-F238E27FC236}">
                <a16:creationId xmlns:a16="http://schemas.microsoft.com/office/drawing/2014/main" id="{1230B005-FB1E-9056-3EB1-AEE533C68503}"/>
              </a:ext>
            </a:extLst>
          </p:cNvPr>
          <p:cNvSpPr>
            <a:spLocks noGrp="1"/>
          </p:cNvSpPr>
          <p:nvPr>
            <p:ph idx="1"/>
          </p:nvPr>
        </p:nvSpPr>
        <p:spPr>
          <a:xfrm>
            <a:off x="838200" y="1825625"/>
            <a:ext cx="10515600" cy="961859"/>
          </a:xfrm>
        </p:spPr>
        <p:txBody>
          <a:bodyPr/>
          <a:lstStyle/>
          <a:p>
            <a:r>
              <a:rPr lang="en-IE" dirty="0"/>
              <a:t>Visibility modifiers allow us to limit the access that other code has to the member attributes in our classes</a:t>
            </a:r>
          </a:p>
        </p:txBody>
      </p:sp>
      <p:graphicFrame>
        <p:nvGraphicFramePr>
          <p:cNvPr id="5" name="Table 4">
            <a:extLst>
              <a:ext uri="{FF2B5EF4-FFF2-40B4-BE49-F238E27FC236}">
                <a16:creationId xmlns:a16="http://schemas.microsoft.com/office/drawing/2014/main" id="{133EA7F5-5981-B6DD-0470-63255C4F614C}"/>
              </a:ext>
            </a:extLst>
          </p:cNvPr>
          <p:cNvGraphicFramePr>
            <a:graphicFrameLocks noGrp="1"/>
          </p:cNvGraphicFramePr>
          <p:nvPr>
            <p:extLst>
              <p:ext uri="{D42A27DB-BD31-4B8C-83A1-F6EECF244321}">
                <p14:modId xmlns:p14="http://schemas.microsoft.com/office/powerpoint/2010/main" val="1254557942"/>
              </p:ext>
            </p:extLst>
          </p:nvPr>
        </p:nvGraphicFramePr>
        <p:xfrm>
          <a:off x="838200" y="2787484"/>
          <a:ext cx="11104418" cy="3904265"/>
        </p:xfrm>
        <a:graphic>
          <a:graphicData uri="http://schemas.openxmlformats.org/drawingml/2006/table">
            <a:tbl>
              <a:tblPr firstRow="1" bandRow="1">
                <a:tableStyleId>{5C22544A-7EE6-4342-B048-85BDC9FD1C3A}</a:tableStyleId>
              </a:tblPr>
              <a:tblGrid>
                <a:gridCol w="2034759">
                  <a:extLst>
                    <a:ext uri="{9D8B030D-6E8A-4147-A177-3AD203B41FA5}">
                      <a16:colId xmlns:a16="http://schemas.microsoft.com/office/drawing/2014/main" val="1237976199"/>
                    </a:ext>
                  </a:extLst>
                </a:gridCol>
                <a:gridCol w="9069659">
                  <a:extLst>
                    <a:ext uri="{9D8B030D-6E8A-4147-A177-3AD203B41FA5}">
                      <a16:colId xmlns:a16="http://schemas.microsoft.com/office/drawing/2014/main" val="3894282930"/>
                    </a:ext>
                  </a:extLst>
                </a:gridCol>
              </a:tblGrid>
              <a:tr h="780853">
                <a:tc>
                  <a:txBody>
                    <a:bodyPr/>
                    <a:lstStyle/>
                    <a:p>
                      <a:r>
                        <a:rPr lang="en-IE" sz="2400" dirty="0"/>
                        <a:t>Modifier</a:t>
                      </a:r>
                    </a:p>
                  </a:txBody>
                  <a:tcPr/>
                </a:tc>
                <a:tc>
                  <a:txBody>
                    <a:bodyPr/>
                    <a:lstStyle/>
                    <a:p>
                      <a:r>
                        <a:rPr lang="en-IE" sz="2400" dirty="0"/>
                        <a:t>Description</a:t>
                      </a:r>
                    </a:p>
                  </a:txBody>
                  <a:tcPr/>
                </a:tc>
                <a:extLst>
                  <a:ext uri="{0D108BD9-81ED-4DB2-BD59-A6C34878D82A}">
                    <a16:rowId xmlns:a16="http://schemas.microsoft.com/office/drawing/2014/main" val="2573012606"/>
                  </a:ext>
                </a:extLst>
              </a:tr>
              <a:tr h="780853">
                <a:tc>
                  <a:txBody>
                    <a:bodyPr/>
                    <a:lstStyle/>
                    <a:p>
                      <a:r>
                        <a:rPr lang="en-IE" sz="2400" dirty="0"/>
                        <a:t>Default</a:t>
                      </a:r>
                    </a:p>
                  </a:txBody>
                  <a:tcPr/>
                </a:tc>
                <a:tc>
                  <a:txBody>
                    <a:bodyPr/>
                    <a:lstStyle/>
                    <a:p>
                      <a:r>
                        <a:rPr lang="en-IE" sz="2400" dirty="0"/>
                        <a:t>Declarations are only visible with the package (defaults to private)</a:t>
                      </a:r>
                    </a:p>
                  </a:txBody>
                  <a:tcPr/>
                </a:tc>
                <a:extLst>
                  <a:ext uri="{0D108BD9-81ED-4DB2-BD59-A6C34878D82A}">
                    <a16:rowId xmlns:a16="http://schemas.microsoft.com/office/drawing/2014/main" val="3526762419"/>
                  </a:ext>
                </a:extLst>
              </a:tr>
              <a:tr h="780853">
                <a:tc>
                  <a:txBody>
                    <a:bodyPr/>
                    <a:lstStyle/>
                    <a:p>
                      <a:r>
                        <a:rPr lang="en-IE" sz="2400" dirty="0"/>
                        <a:t>Private</a:t>
                      </a:r>
                    </a:p>
                  </a:txBody>
                  <a:tcPr/>
                </a:tc>
                <a:tc>
                  <a:txBody>
                    <a:bodyPr/>
                    <a:lstStyle/>
                    <a:p>
                      <a:r>
                        <a:rPr lang="en-IE" sz="2400" dirty="0"/>
                        <a:t>Declarations are visible within the class only</a:t>
                      </a:r>
                    </a:p>
                  </a:txBody>
                  <a:tcPr/>
                </a:tc>
                <a:extLst>
                  <a:ext uri="{0D108BD9-81ED-4DB2-BD59-A6C34878D82A}">
                    <a16:rowId xmlns:a16="http://schemas.microsoft.com/office/drawing/2014/main" val="587965700"/>
                  </a:ext>
                </a:extLst>
              </a:tr>
              <a:tr h="780853">
                <a:tc>
                  <a:txBody>
                    <a:bodyPr/>
                    <a:lstStyle/>
                    <a:p>
                      <a:r>
                        <a:rPr lang="en-IE" sz="2400" dirty="0"/>
                        <a:t>Protected</a:t>
                      </a:r>
                    </a:p>
                  </a:txBody>
                  <a:tcPr/>
                </a:tc>
                <a:tc>
                  <a:txBody>
                    <a:bodyPr/>
                    <a:lstStyle/>
                    <a:p>
                      <a:r>
                        <a:rPr lang="en-IE" sz="2400" dirty="0"/>
                        <a:t>Declarations are visible within the package or all sub-classes</a:t>
                      </a:r>
                    </a:p>
                  </a:txBody>
                  <a:tcPr/>
                </a:tc>
                <a:extLst>
                  <a:ext uri="{0D108BD9-81ED-4DB2-BD59-A6C34878D82A}">
                    <a16:rowId xmlns:a16="http://schemas.microsoft.com/office/drawing/2014/main" val="899145870"/>
                  </a:ext>
                </a:extLst>
              </a:tr>
              <a:tr h="780853">
                <a:tc>
                  <a:txBody>
                    <a:bodyPr/>
                    <a:lstStyle/>
                    <a:p>
                      <a:r>
                        <a:rPr lang="en-IE" sz="2400" dirty="0"/>
                        <a:t>Public</a:t>
                      </a:r>
                    </a:p>
                  </a:txBody>
                  <a:tcPr/>
                </a:tc>
                <a:tc>
                  <a:txBody>
                    <a:bodyPr/>
                    <a:lstStyle/>
                    <a:p>
                      <a:r>
                        <a:rPr lang="en-IE" sz="2400" dirty="0"/>
                        <a:t>Declarations are visible everywhere</a:t>
                      </a:r>
                    </a:p>
                  </a:txBody>
                  <a:tcPr/>
                </a:tc>
                <a:extLst>
                  <a:ext uri="{0D108BD9-81ED-4DB2-BD59-A6C34878D82A}">
                    <a16:rowId xmlns:a16="http://schemas.microsoft.com/office/drawing/2014/main" val="2313571609"/>
                  </a:ext>
                </a:extLst>
              </a:tr>
            </a:tbl>
          </a:graphicData>
        </a:graphic>
      </p:graphicFrame>
    </p:spTree>
    <p:extLst>
      <p:ext uri="{BB962C8B-B14F-4D97-AF65-F5344CB8AC3E}">
        <p14:creationId xmlns:p14="http://schemas.microsoft.com/office/powerpoint/2010/main" val="14443767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A7563-E9D3-AB1F-94D0-8775B47C193D}"/>
              </a:ext>
            </a:extLst>
          </p:cNvPr>
          <p:cNvSpPr>
            <a:spLocks noGrp="1"/>
          </p:cNvSpPr>
          <p:nvPr>
            <p:ph type="title"/>
          </p:nvPr>
        </p:nvSpPr>
        <p:spPr/>
        <p:txBody>
          <a:bodyPr/>
          <a:lstStyle/>
          <a:p>
            <a:r>
              <a:rPr lang="en-IE" dirty="0"/>
              <a:t>Example - Java</a:t>
            </a:r>
          </a:p>
        </p:txBody>
      </p:sp>
      <p:sp>
        <p:nvSpPr>
          <p:cNvPr id="9" name="Rectangle 2">
            <a:extLst>
              <a:ext uri="{FF2B5EF4-FFF2-40B4-BE49-F238E27FC236}">
                <a16:creationId xmlns:a16="http://schemas.microsoft.com/office/drawing/2014/main" id="{3D72B611-A498-0BCF-9279-E9E7A46AB84F}"/>
              </a:ext>
            </a:extLst>
          </p:cNvPr>
          <p:cNvSpPr>
            <a:spLocks noChangeArrowheads="1"/>
          </p:cNvSpPr>
          <p:nvPr/>
        </p:nvSpPr>
        <p:spPr bwMode="auto">
          <a:xfrm>
            <a:off x="838200" y="3330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9006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2174</Words>
  <Application>Microsoft Macintosh PowerPoint</Application>
  <PresentationFormat>Widescreen</PresentationFormat>
  <Paragraphs>313</Paragraphs>
  <Slides>53</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Aptos Display</vt:lpstr>
      <vt:lpstr>Arial</vt:lpstr>
      <vt:lpstr>Courier New</vt:lpstr>
      <vt:lpstr>Rubik</vt:lpstr>
      <vt:lpstr>Office Theme</vt:lpstr>
      <vt:lpstr>DTAI H3013  Object Oriented  Analysis and Design</vt:lpstr>
      <vt:lpstr>Assessment</vt:lpstr>
      <vt:lpstr>PowerPoint Presentation</vt:lpstr>
      <vt:lpstr>OOPs Conepts in Java</vt:lpstr>
      <vt:lpstr>OOAaD Concepts </vt:lpstr>
      <vt:lpstr>Abstraction</vt:lpstr>
      <vt:lpstr>Encapsulation</vt:lpstr>
      <vt:lpstr>Inheritance</vt:lpstr>
      <vt:lpstr>Polymprphism</vt:lpstr>
      <vt:lpstr>Association</vt:lpstr>
      <vt:lpstr>Association Aggregation and Composition</vt:lpstr>
      <vt:lpstr>Aggregation</vt:lpstr>
      <vt:lpstr>Composition</vt:lpstr>
      <vt:lpstr>More on Association</vt:lpstr>
      <vt:lpstr>More on Association</vt:lpstr>
      <vt:lpstr>More on Association</vt:lpstr>
      <vt:lpstr>More on Aggregation</vt:lpstr>
      <vt:lpstr>More on Aggregation…</vt:lpstr>
      <vt:lpstr>More On Aggregation</vt:lpstr>
      <vt:lpstr>More on Aggregation…</vt:lpstr>
      <vt:lpstr>More on Aggregation…</vt:lpstr>
      <vt:lpstr>More on Composition…</vt:lpstr>
      <vt:lpstr>More on Composition…</vt:lpstr>
      <vt:lpstr>More on Composition…</vt:lpstr>
      <vt:lpstr>More on Composition…</vt:lpstr>
      <vt:lpstr>Coupling &amp; Cohesion</vt:lpstr>
      <vt:lpstr>Coupling…</vt:lpstr>
      <vt:lpstr>Cohesion</vt:lpstr>
      <vt:lpstr>Coupling…</vt:lpstr>
      <vt:lpstr>Coupling….</vt:lpstr>
      <vt:lpstr>Example</vt:lpstr>
      <vt:lpstr>PowerPoint Presentation</vt:lpstr>
      <vt:lpstr>Coupling</vt:lpstr>
      <vt:lpstr>Loose Coupling</vt:lpstr>
      <vt:lpstr>Design Patterns</vt:lpstr>
      <vt:lpstr>Design Patterns</vt:lpstr>
      <vt:lpstr>Loose Coupling</vt:lpstr>
      <vt:lpstr>Example</vt:lpstr>
      <vt:lpstr>PowerPoint Presentation</vt:lpstr>
      <vt:lpstr>PowerPoint Presentation</vt:lpstr>
      <vt:lpstr>Interfaces</vt:lpstr>
      <vt:lpstr>Interfaces</vt:lpstr>
      <vt:lpstr>Types of Coupling</vt:lpstr>
      <vt:lpstr>Types of Coupling…</vt:lpstr>
      <vt:lpstr>Hospital Management UML DIagram</vt:lpstr>
      <vt:lpstr>Polymorphism</vt:lpstr>
      <vt:lpstr>Inheritance</vt:lpstr>
      <vt:lpstr>Inheritance in C++</vt:lpstr>
      <vt:lpstr>Inheritance Types</vt:lpstr>
      <vt:lpstr>Polymporphism</vt:lpstr>
      <vt:lpstr>Hospital Management UML Diagram</vt:lpstr>
      <vt:lpstr>Visibility Modifiers in Java</vt:lpstr>
      <vt:lpstr>Example - Java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Analysis &amp; Design Concepts</dc:title>
  <dc:subject/>
  <dc:creator>Mark Deegan</dc:creator>
  <cp:keywords/>
  <dc:description/>
  <cp:lastModifiedBy>Mark Deegan</cp:lastModifiedBy>
  <cp:revision>2</cp:revision>
  <dcterms:created xsi:type="dcterms:W3CDTF">2024-11-07T09:53:03Z</dcterms:created>
  <dcterms:modified xsi:type="dcterms:W3CDTF">2025-11-19T09:25:12Z</dcterms:modified>
  <cp:category/>
</cp:coreProperties>
</file>